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74" r:id="rId2"/>
    <p:sldId id="265" r:id="rId3"/>
    <p:sldId id="269" r:id="rId4"/>
    <p:sldId id="275" r:id="rId5"/>
    <p:sldId id="276" r:id="rId6"/>
    <p:sldId id="278" r:id="rId7"/>
    <p:sldId id="279" r:id="rId8"/>
    <p:sldId id="280" r:id="rId9"/>
    <p:sldId id="281" r:id="rId10"/>
  </p:sldIdLst>
  <p:sldSz cx="9906000" cy="6858000" type="A4"/>
  <p:notesSz cx="6735763" cy="98663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91" d="100"/>
          <a:sy n="91" d="100"/>
        </p:scale>
        <p:origin x="9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EB5880-D6AF-40F6-98D4-9EA059276AED}" type="datetimeFigureOut">
              <a:rPr lang="zh-TW" altLang="en-US" smtClean="0"/>
              <a:t>2021/9/15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CEF9E-0D56-4945-B930-2B876EF1EE0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0600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E1D0-C272-4DC5-BD60-8FD9B380DA94}" type="datetimeFigureOut">
              <a:rPr lang="zh-TW" altLang="en-US" smtClean="0"/>
              <a:t>2021/9/15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76D95-6FC6-44E9-B022-C5704420C8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5345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E1D0-C272-4DC5-BD60-8FD9B380DA94}" type="datetimeFigureOut">
              <a:rPr lang="zh-TW" altLang="en-US" smtClean="0"/>
              <a:t>2021/9/15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76D95-6FC6-44E9-B022-C5704420C8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269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E1D0-C272-4DC5-BD60-8FD9B380DA94}" type="datetimeFigureOut">
              <a:rPr lang="zh-TW" altLang="en-US" smtClean="0"/>
              <a:t>2021/9/15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76D95-6FC6-44E9-B022-C5704420C8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52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E1D0-C272-4DC5-BD60-8FD9B380DA94}" type="datetimeFigureOut">
              <a:rPr lang="zh-TW" altLang="en-US" smtClean="0"/>
              <a:t>2021/9/15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76D95-6FC6-44E9-B022-C5704420C8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7967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E1D0-C272-4DC5-BD60-8FD9B380DA94}" type="datetimeFigureOut">
              <a:rPr lang="zh-TW" altLang="en-US" smtClean="0"/>
              <a:t>2021/9/15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76D95-6FC6-44E9-B022-C5704420C8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947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E1D0-C272-4DC5-BD60-8FD9B380DA94}" type="datetimeFigureOut">
              <a:rPr lang="zh-TW" altLang="en-US" smtClean="0"/>
              <a:t>2021/9/15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76D95-6FC6-44E9-B022-C5704420C8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2695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E1D0-C272-4DC5-BD60-8FD9B380DA94}" type="datetimeFigureOut">
              <a:rPr lang="zh-TW" altLang="en-US" smtClean="0"/>
              <a:t>2021/9/15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76D95-6FC6-44E9-B022-C5704420C8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6894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E1D0-C272-4DC5-BD60-8FD9B380DA94}" type="datetimeFigureOut">
              <a:rPr lang="zh-TW" altLang="en-US" smtClean="0"/>
              <a:t>2021/9/15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76D95-6FC6-44E9-B022-C5704420C8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2563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E1D0-C272-4DC5-BD60-8FD9B380DA94}" type="datetimeFigureOut">
              <a:rPr lang="zh-TW" altLang="en-US" smtClean="0"/>
              <a:t>2021/9/15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76D95-6FC6-44E9-B022-C5704420C8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1471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E1D0-C272-4DC5-BD60-8FD9B380DA94}" type="datetimeFigureOut">
              <a:rPr lang="zh-TW" altLang="en-US" smtClean="0"/>
              <a:t>2021/9/15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76D95-6FC6-44E9-B022-C5704420C8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67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3E1D0-C272-4DC5-BD60-8FD9B380DA94}" type="datetimeFigureOut">
              <a:rPr lang="zh-TW" altLang="en-US" smtClean="0"/>
              <a:t>2021/9/15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76D95-6FC6-44E9-B022-C5704420C8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129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3E1D0-C272-4DC5-BD60-8FD9B380DA94}" type="datetimeFigureOut">
              <a:rPr lang="zh-TW" altLang="en-US" smtClean="0"/>
              <a:t>2021/9/15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76D95-6FC6-44E9-B022-C5704420C8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8085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eg"/><Relationship Id="rId5" Type="http://schemas.openxmlformats.org/officeDocument/2006/relationships/image" Target="../media/image33.png"/><Relationship Id="rId4" Type="http://schemas.openxmlformats.org/officeDocument/2006/relationships/image" Target="../media/image2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83"/>
          <p:cNvSpPr txBox="1"/>
          <p:nvPr/>
        </p:nvSpPr>
        <p:spPr>
          <a:xfrm>
            <a:off x="0" y="6021287"/>
            <a:ext cx="936629" cy="823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 b="1" i="0" u="none" strike="noStrike" kern="1200" cap="none" spc="0" baseline="0" dirty="0">
              <a:solidFill>
                <a:srgbClr val="663300"/>
              </a:solidFill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TW" sz="1800" b="1" i="0" u="none" strike="noStrike" kern="1200" cap="none" spc="0" baseline="0" dirty="0">
                <a:solidFill>
                  <a:srgbClr val="808080"/>
                </a:solidFill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春 積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500" b="1" i="0" u="none" strike="noStrike" kern="1200" cap="none" spc="0" baseline="0" dirty="0">
              <a:solidFill>
                <a:srgbClr val="663300"/>
              </a:solidFill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字方塊 5"/>
          <p:cNvSpPr txBox="1"/>
          <p:nvPr/>
        </p:nvSpPr>
        <p:spPr bwMode="auto">
          <a:xfrm>
            <a:off x="2049440" y="2083574"/>
            <a:ext cx="1935725" cy="26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1137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德國精湛工藝衛浴龍頭</a:t>
            </a:r>
            <a:endParaRPr lang="zh-TW" altLang="en-US" sz="1137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01" y="1828800"/>
            <a:ext cx="1250847" cy="531650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735893" y="2508915"/>
            <a:ext cx="4247541" cy="373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改變世界的德國企業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作為全球品牌，德國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是領先的衛浴設備供應商，致力於提供創新水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生活產品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，數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十年來，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始終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致力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於提升品質、技術、設計和永續發展的品牌價值，充分體現了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創造卓越體驗並實現「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Pure </a:t>
            </a:r>
            <a:r>
              <a:rPr lang="en-US" altLang="zh-TW" sz="1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Freude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an Wasser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暢享水生活」的承諾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1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僅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在過去十年裡，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就榮獲了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300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多項設計和創新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大獎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並且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被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財富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雜誌評選為「改變世界」前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名企業，為衛浴界以及德國企業中唯一上榜的公司。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GROHE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並多次榮登「德國最佳永續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發展公司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排行榜，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同時也獲得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了德國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聯邦政府「企業社會責任獎」，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這些輝煌成就都充分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證實了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的卓越品質。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4" name="Picture 4" descr="https://cdn.cloud.grohe.com/Web/local_assets_4_3/news/en/20170124_GROHE_CSR_Award_4_3/4_3/710/20170124_GROHE_CSR_Award_4_3_4_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600" y="1992361"/>
            <a:ext cx="2249550" cy="168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s://cdn.cloud.grohe.com/Web/4_3_png/Seal_German_Sustainability_Award_2016__Top5_en_4_3/4_3/710/Seal_German_Sustainability_Award_2016__Top5_en_4_3_4_3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5" r="12535"/>
          <a:stretch/>
        </p:blipFill>
        <p:spPr bwMode="auto">
          <a:xfrm>
            <a:off x="7701719" y="1992360"/>
            <a:ext cx="1685581" cy="16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群組 1"/>
          <p:cNvGrpSpPr/>
          <p:nvPr/>
        </p:nvGrpSpPr>
        <p:grpSpPr>
          <a:xfrm>
            <a:off x="-14403" y="0"/>
            <a:ext cx="9920403" cy="1147830"/>
            <a:chOff x="405709" y="316090"/>
            <a:chExt cx="9190184" cy="1060340"/>
          </a:xfrm>
        </p:grpSpPr>
        <p:pic>
          <p:nvPicPr>
            <p:cNvPr id="2050" name="Picture 2" descr="Welcome | GROHE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837" b="16089"/>
            <a:stretch/>
          </p:blipFill>
          <p:spPr bwMode="auto">
            <a:xfrm>
              <a:off x="2743200" y="316090"/>
              <a:ext cx="2666276" cy="106034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https://cdn.cloud.grohe.com/Web/local_assets_4_3/corporate/ZZH_IKONEW109_000_01_4_3/4_3/710/ZZH_IKONEW109_000_01_4_3_4_3.jpg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11717" r="1" b="27743"/>
            <a:stretch/>
          </p:blipFill>
          <p:spPr bwMode="auto">
            <a:xfrm>
              <a:off x="405709" y="316090"/>
              <a:ext cx="2337491" cy="106034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4" descr="https://cdn.cloud.grohe.com/Web/local_assets_3_4/news/en/ZZH_T22505C03_000_01_3_4/3_4/532/ZZH_T22505C03_000_01_3_4_3_4.jpg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876" b="24595"/>
            <a:stretch/>
          </p:blipFill>
          <p:spPr bwMode="auto">
            <a:xfrm>
              <a:off x="8238470" y="316090"/>
              <a:ext cx="1357423" cy="106034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18" name="Picture 2" descr="Pure Freude an Wasser - AvionAvion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775" b="25141"/>
            <a:stretch/>
          </p:blipFill>
          <p:spPr bwMode="auto">
            <a:xfrm>
              <a:off x="5409476" y="316090"/>
              <a:ext cx="2828994" cy="1060340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矩形 22"/>
          <p:cNvSpPr/>
          <p:nvPr/>
        </p:nvSpPr>
        <p:spPr>
          <a:xfrm>
            <a:off x="5172455" y="5358989"/>
            <a:ext cx="42031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寶貴的水資源是貫徹一切的靈感泉源，品質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、技術、設計和永續發展，這四大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品牌核心價值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體現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了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致力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於創造非凡體驗的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承諾。</a:t>
            </a:r>
          </a:p>
        </p:txBody>
      </p:sp>
      <p:pic>
        <p:nvPicPr>
          <p:cNvPr id="9222" name="Picture 6" descr="https://cdn.cloud.grohe.com/Web/21_9/ZZH_T39566E01_000_01_21_9/21_9/640/ZZH_T39566E01_000_01_21_9_21_9.jpg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5" r="1" b="18839"/>
          <a:stretch/>
        </p:blipFill>
        <p:spPr bwMode="auto">
          <a:xfrm>
            <a:off x="5172456" y="3886200"/>
            <a:ext cx="4203151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1851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5306" y="1472918"/>
            <a:ext cx="8223535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400" b="1" cap="all" dirty="0">
                <a:solidFill>
                  <a:srgbClr val="1120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400" b="1" cap="all" dirty="0">
                <a:solidFill>
                  <a:srgbClr val="1120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品牌</a:t>
            </a:r>
            <a:r>
              <a:rPr lang="zh-TW" altLang="en-US" sz="1400" b="1" cap="all" dirty="0" smtClean="0">
                <a:solidFill>
                  <a:srgbClr val="1120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價值</a:t>
            </a:r>
            <a:endParaRPr lang="en-US" altLang="zh-TW" sz="1400" b="1" cap="all" dirty="0" smtClean="0">
              <a:solidFill>
                <a:srgbClr val="11203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200000"/>
              </a:lnSpc>
            </a:pPr>
            <a:endParaRPr lang="zh-TW" altLang="en-US" sz="1000" cap="all" dirty="0" smtClean="0">
              <a:solidFill>
                <a:srgbClr val="11203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200000"/>
              </a:lnSpc>
            </a:pPr>
            <a:r>
              <a:rPr lang="zh-TW" altLang="en-US" sz="1200" dirty="0" smtClean="0">
                <a:solidFill>
                  <a:srgbClr val="1120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寶貴的水資源是貫徹一切的靈感泉源，品質</a:t>
            </a:r>
            <a:r>
              <a:rPr lang="zh-TW" altLang="en-US" sz="1200" dirty="0">
                <a:solidFill>
                  <a:srgbClr val="1120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、技術、設計和永續發展，這四大</a:t>
            </a:r>
            <a:r>
              <a:rPr lang="zh-TW" altLang="en-US" sz="1200" dirty="0" smtClean="0">
                <a:solidFill>
                  <a:srgbClr val="1120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品牌核心價值</a:t>
            </a:r>
            <a:r>
              <a:rPr lang="zh-TW" altLang="en-US" sz="1200" dirty="0">
                <a:solidFill>
                  <a:srgbClr val="1120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體現了我們致力於創造非凡體驗的承諾。我們秉持十分嚴格的規範標準</a:t>
            </a:r>
            <a:r>
              <a:rPr lang="zh-TW" altLang="en-US" sz="1200" dirty="0" smtClean="0">
                <a:solidFill>
                  <a:srgbClr val="1120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，並在這四大品牌核心理念中保持平衡，以確保所有使用</a:t>
            </a:r>
            <a:r>
              <a:rPr lang="en-US" altLang="zh-TW" sz="1200" dirty="0" smtClean="0">
                <a:solidFill>
                  <a:srgbClr val="1120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 smtClean="0">
                <a:solidFill>
                  <a:srgbClr val="1120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產品的消費者都有無與倫比的美好體驗。</a:t>
            </a:r>
            <a:endParaRPr lang="zh-TW" altLang="en-US" sz="1200" dirty="0">
              <a:solidFill>
                <a:srgbClr val="11203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4"/>
          <p:cNvGrpSpPr>
            <a:grpSpLocks/>
          </p:cNvGrpSpPr>
          <p:nvPr/>
        </p:nvGrpSpPr>
        <p:grpSpPr bwMode="auto">
          <a:xfrm>
            <a:off x="0" y="116632"/>
            <a:ext cx="9906000" cy="779066"/>
            <a:chOff x="0" y="188640"/>
            <a:chExt cx="9144000" cy="720080"/>
          </a:xfrm>
          <a:solidFill>
            <a:schemeClr val="bg1">
              <a:lumMod val="85000"/>
            </a:schemeClr>
          </a:solidFill>
        </p:grpSpPr>
        <p:sp>
          <p:nvSpPr>
            <p:cNvPr id="4" name="矩形 3"/>
            <p:cNvSpPr/>
            <p:nvPr/>
          </p:nvSpPr>
          <p:spPr>
            <a:xfrm>
              <a:off x="0" y="188640"/>
              <a:ext cx="9144000" cy="72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dirty="0">
                <a:ea typeface="微軟正黑體" panose="020B0604030504040204" pitchFamily="34" charset="-120"/>
              </a:endParaRPr>
            </a:p>
          </p:txBody>
        </p:sp>
        <p:sp>
          <p:nvSpPr>
            <p:cNvPr id="5" name="文字方塊 4"/>
            <p:cNvSpPr txBox="1"/>
            <p:nvPr/>
          </p:nvSpPr>
          <p:spPr>
            <a:xfrm>
              <a:off x="1552713" y="582856"/>
              <a:ext cx="1786823" cy="2470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TW" altLang="en-US" sz="1137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德國精湛工藝衛浴龍頭</a:t>
              </a:r>
              <a:endParaRPr lang="zh-TW" altLang="en-US" sz="1137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6" name="Text Box 27"/>
          <p:cNvSpPr txBox="1">
            <a:spLocks noChangeArrowheads="1"/>
          </p:cNvSpPr>
          <p:nvPr/>
        </p:nvSpPr>
        <p:spPr bwMode="auto">
          <a:xfrm>
            <a:off x="7838811" y="323007"/>
            <a:ext cx="1745589" cy="3262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zh-TW" altLang="en-US" sz="152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品牌價值</a:t>
            </a:r>
            <a:endParaRPr lang="zh-TW" altLang="en-US" sz="152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Line 14"/>
          <p:cNvSpPr>
            <a:spLocks noChangeShapeType="1"/>
          </p:cNvSpPr>
          <p:nvPr/>
        </p:nvSpPr>
        <p:spPr bwMode="auto">
          <a:xfrm>
            <a:off x="0" y="6597352"/>
            <a:ext cx="9906000" cy="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TW" altLang="en-US" dirty="0">
              <a:solidFill>
                <a:srgbClr val="808080">
                  <a:lumMod val="75000"/>
                </a:srgbClr>
              </a:solidFill>
              <a:latin typeface="Arial" charset="0"/>
              <a:ea typeface="微軟正黑體" panose="020B0604030504040204" pitchFamily="34" charset="-120"/>
            </a:endParaRP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2153179" y="6614551"/>
            <a:ext cx="5929842" cy="258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1083">
                <a:solidFill>
                  <a:srgbClr val="606060"/>
                </a:solidFill>
                <a:latin typeface="微軟正黑體" panose="020B0604030504040204" pitchFamily="34" charset="-120"/>
              </a:rPr>
              <a:t>春積衛浴      </a:t>
            </a:r>
            <a:r>
              <a:rPr lang="en-US" altLang="zh-TW" sz="1083">
                <a:solidFill>
                  <a:srgbClr val="606060"/>
                </a:solidFill>
                <a:latin typeface="微軟正黑體" panose="020B0604030504040204" pitchFamily="34" charset="-120"/>
              </a:rPr>
              <a:t>TWIGGY BATHROOM WORKS SINCE 1982          WWW.TWIGGY.COM.TW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55" y="277316"/>
            <a:ext cx="1250847" cy="531650"/>
          </a:xfrm>
          <a:prstGeom prst="rect">
            <a:avLst/>
          </a:prstGeom>
        </p:spPr>
      </p:pic>
      <p:pic>
        <p:nvPicPr>
          <p:cNvPr id="4098" name="Picture 2" descr="https://cdn.cloud.grohe.com/Web/local_assets_3_4/news/en/ZZI_WH201606_000_01_3_4/3_4/532/ZZI_WH201606_000_01_3_4_3_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306" y="3508146"/>
            <a:ext cx="1817233" cy="242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cdn.cloud.grohe.com/Web/local_assets_3_4/news/en/ZZH_T22505C03_000_01_3_4/3_4/532/ZZH_T22505C03_000_01_3_4_3_4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3023" y="3508146"/>
            <a:ext cx="1817232" cy="242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s://cdn.cloud.grohe.com/Web/local_assets_3_4/news/en/ZZH_29126000_010_01_3_4/3_4/532/ZZH_29126000_010_01_3_4_3_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881" y="3508146"/>
            <a:ext cx="1817232" cy="242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ttps://cdn.cloud.grohe.com/Web/local_assets_3_4/news/en/ZZH_T31454B24_000_01_3_4/3_4/532/ZZH_T31454B24_000_01_3_4_3_4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165" y="3508146"/>
            <a:ext cx="1817232" cy="242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829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4"/>
          <p:cNvGrpSpPr>
            <a:grpSpLocks/>
          </p:cNvGrpSpPr>
          <p:nvPr/>
        </p:nvGrpSpPr>
        <p:grpSpPr bwMode="auto">
          <a:xfrm>
            <a:off x="0" y="116632"/>
            <a:ext cx="9906000" cy="779066"/>
            <a:chOff x="0" y="188640"/>
            <a:chExt cx="9144000" cy="720080"/>
          </a:xfrm>
          <a:solidFill>
            <a:schemeClr val="bg1">
              <a:lumMod val="85000"/>
            </a:schemeClr>
          </a:solidFill>
        </p:grpSpPr>
        <p:sp>
          <p:nvSpPr>
            <p:cNvPr id="3" name="矩形 2"/>
            <p:cNvSpPr/>
            <p:nvPr/>
          </p:nvSpPr>
          <p:spPr>
            <a:xfrm>
              <a:off x="0" y="188640"/>
              <a:ext cx="9144000" cy="72008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 dirty="0">
                <a:ea typeface="微軟正黑體" panose="020B0604030504040204" pitchFamily="34" charset="-120"/>
              </a:endParaRPr>
            </a:p>
          </p:txBody>
        </p:sp>
        <p:sp>
          <p:nvSpPr>
            <p:cNvPr id="4" name="文字方塊 3"/>
            <p:cNvSpPr txBox="1"/>
            <p:nvPr/>
          </p:nvSpPr>
          <p:spPr>
            <a:xfrm>
              <a:off x="1552713" y="582856"/>
              <a:ext cx="1786823" cy="2470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zh-TW" altLang="en-US" sz="1137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德國精湛工藝衛浴龍頭</a:t>
              </a:r>
              <a:endParaRPr lang="zh-TW" altLang="en-US" sz="1137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" name="Text Box 27"/>
          <p:cNvSpPr txBox="1">
            <a:spLocks noChangeArrowheads="1"/>
          </p:cNvSpPr>
          <p:nvPr/>
        </p:nvSpPr>
        <p:spPr bwMode="auto">
          <a:xfrm>
            <a:off x="7838811" y="323007"/>
            <a:ext cx="1745589" cy="3262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zh-TW" altLang="en-US" sz="152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</a:t>
            </a:r>
            <a:r>
              <a:rPr lang="zh-TW" altLang="en-US" sz="152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</a:t>
            </a:r>
            <a:endParaRPr lang="zh-TW" altLang="en-US" sz="152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Line 14"/>
          <p:cNvSpPr>
            <a:spLocks noChangeShapeType="1"/>
          </p:cNvSpPr>
          <p:nvPr/>
        </p:nvSpPr>
        <p:spPr bwMode="auto">
          <a:xfrm>
            <a:off x="0" y="6597352"/>
            <a:ext cx="9906000" cy="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TW" altLang="en-US" dirty="0">
              <a:solidFill>
                <a:srgbClr val="808080">
                  <a:lumMod val="75000"/>
                </a:srgbClr>
              </a:solidFill>
              <a:latin typeface="Arial" charset="0"/>
              <a:ea typeface="微軟正黑體" panose="020B0604030504040204" pitchFamily="34" charset="-120"/>
            </a:endParaRPr>
          </a:p>
        </p:txBody>
      </p:sp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2153179" y="6614551"/>
            <a:ext cx="5929842" cy="258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TW" altLang="en-US" sz="1083">
                <a:solidFill>
                  <a:srgbClr val="606060"/>
                </a:solidFill>
                <a:latin typeface="微軟正黑體" panose="020B0604030504040204" pitchFamily="34" charset="-120"/>
              </a:rPr>
              <a:t>春積衛浴      </a:t>
            </a:r>
            <a:r>
              <a:rPr lang="en-US" altLang="zh-TW" sz="1083">
                <a:solidFill>
                  <a:srgbClr val="606060"/>
                </a:solidFill>
                <a:latin typeface="微軟正黑體" panose="020B0604030504040204" pitchFamily="34" charset="-120"/>
              </a:rPr>
              <a:t>TWIGGY BATHROOM WORKS SINCE 1982          WWW.TWIGGY.COM.TW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55" y="277316"/>
            <a:ext cx="1250847" cy="53165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125307" y="1472918"/>
            <a:ext cx="7506630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cap="all" dirty="0" smtClean="0">
                <a:solidFill>
                  <a:srgbClr val="1120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專業技術</a:t>
            </a:r>
            <a:endParaRPr lang="en-US" altLang="zh-TW" sz="1600" b="1" cap="all" dirty="0" smtClean="0">
              <a:solidFill>
                <a:srgbClr val="11203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zh-TW" altLang="en-US" sz="800" cap="all" dirty="0" smtClean="0">
              <a:solidFill>
                <a:srgbClr val="11203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結合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領先的工藝技術、高效的團隊合作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和專業化的製造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技術大師們在研發、設計以及製造頂級產品系列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方面，在業界都成為領導者的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角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色，對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每件產品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進行嚴格測試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與微調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，以確保客戶最高的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滿意度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194" name="Picture 2" descr="GROHE EcoJoy 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307" y="3041126"/>
            <a:ext cx="1324375" cy="99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cdn.cloud.grohe.com/Web/4_3_png/ZZH_PIKTOZ07_000_01_4_3/4_3/710/ZZH_PIKTOZ07_000_01_4_3_4_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448" y="3041124"/>
            <a:ext cx="1324375" cy="99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ttps://cdn.cloud.grohe.com/Web/4_3_png/ZZH_PIKTOZ05_000_01_4_3/4_3/710/ZZH_PIKTOZ05_000_01_4_3_4_3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453" y="3041124"/>
            <a:ext cx="1324375" cy="99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https://cdn.cloud.grohe.com/Web/4_3_png/ZZH_PIKTOZ06_000_01_4_3/4_3/710/ZZH_PIKTOZ06_000_01_4_3_4_3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730" y="3041124"/>
            <a:ext cx="1324375" cy="99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https://cdn.cloud.grohe.com/Web/4_3_png/ZZH_PIKTOZ02_000_01_4_3/4_3/710/ZZH_PIKTOZ02_000_01_4_3_4_3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583" y="3041124"/>
            <a:ext cx="1324375" cy="99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233496" y="414794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節能環保享樂</a:t>
            </a:r>
            <a:endParaRPr lang="zh-TW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475637" y="414794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星光閃耀電鍍</a:t>
            </a:r>
            <a:endParaRPr lang="zh-TW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772642" y="414794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絲滑柔順操作</a:t>
            </a:r>
            <a:endParaRPr lang="zh-TW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959919" y="414794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完美節能控水</a:t>
            </a:r>
            <a:endParaRPr lang="zh-TW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260716" y="414794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數位化操作</a:t>
            </a:r>
            <a:endParaRPr lang="zh-TW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204" name="Picture 12" descr="https://cdn.cloud.grohe.com/Web/4_3_png/ZZH_PIKTOZ08_000_01_4_3/4_3/710/ZZH_PIKTOZ08_000_01_4_3_4_3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032" y="4711513"/>
            <a:ext cx="1288652" cy="96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GROHE CoolTouch 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224" y="4711513"/>
            <a:ext cx="1288653" cy="96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GROHE Whisper®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314" y="4722296"/>
            <a:ext cx="1288653" cy="96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0" name="Picture 18" descr="GROHE Light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590" y="4675340"/>
            <a:ext cx="1288653" cy="96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2" name="Picture 20" descr="https://cdn.cloud.grohe.com/Web/4_3_png/feathercontrol/4_3/710/feathercontrol_4_3.pn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442" y="4676203"/>
            <a:ext cx="1288653" cy="96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字方塊 24"/>
          <p:cNvSpPr txBox="1"/>
          <p:nvPr/>
        </p:nvSpPr>
        <p:spPr>
          <a:xfrm>
            <a:off x="1230884" y="580235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精確恆溫</a:t>
            </a:r>
            <a:r>
              <a:rPr lang="zh-TW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2473025" y="580235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專利防燙技術</a:t>
            </a:r>
            <a:endParaRPr lang="zh-TW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3770030" y="580235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專利靜音技術</a:t>
            </a:r>
            <a:endParaRPr lang="zh-TW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4957307" y="580235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安全低鉛技術</a:t>
            </a:r>
            <a:endParaRPr lang="zh-TW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258104" y="580235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輕盈羽毛操控</a:t>
            </a:r>
            <a:endParaRPr lang="zh-TW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 descr="GROHE DreamSpray®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926" y="3021690"/>
            <a:ext cx="1740190" cy="112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文字方塊 30"/>
          <p:cNvSpPr txBox="1"/>
          <p:nvPr/>
        </p:nvSpPr>
        <p:spPr>
          <a:xfrm>
            <a:off x="7446388" y="414794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夢幻花灑技術</a:t>
            </a:r>
            <a:endParaRPr lang="zh-TW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8" name="Picture 4" descr="GROHE 高仪Essence 浴室面盆龙头带拉杆32628001，L号【Grohe 高仪】 价格报价图片- 亚马逊中国"/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88" t="23564" r="26758" b="23191"/>
          <a:stretch/>
        </p:blipFill>
        <p:spPr bwMode="auto">
          <a:xfrm>
            <a:off x="7519722" y="4614690"/>
            <a:ext cx="957019" cy="110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文字方塊 32"/>
          <p:cNvSpPr txBox="1"/>
          <p:nvPr/>
        </p:nvSpPr>
        <p:spPr>
          <a:xfrm>
            <a:off x="7473820" y="5802349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快速安裝技術</a:t>
            </a:r>
            <a:endParaRPr lang="zh-TW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6552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15578" y="1447023"/>
            <a:ext cx="7762662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改變世界的德國企業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7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僅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在過去十年裡，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就榮獲了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300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多項設計和創新大獎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2017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憑藉其在企業社會責任、節水科技以及產品創新等各方面的傑出表現，</a:t>
            </a:r>
            <a:r>
              <a:rPr lang="zh-TW" altLang="en-US" sz="12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被</a:t>
            </a:r>
            <a:r>
              <a:rPr lang="en-US" altLang="zh-TW" sz="12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《</a:t>
            </a:r>
            <a:r>
              <a:rPr lang="zh-TW" altLang="en-US" sz="12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財富</a:t>
            </a:r>
            <a:r>
              <a:rPr lang="en-US" altLang="zh-TW" sz="12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》</a:t>
            </a:r>
            <a:r>
              <a:rPr lang="zh-TW" altLang="en-US" sz="12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雜誌評選</a:t>
            </a:r>
            <a:r>
              <a:rPr lang="zh-TW" altLang="en-US" sz="1200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為「</a:t>
            </a:r>
            <a:r>
              <a:rPr lang="zh-TW" altLang="en-US" sz="12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改變世界」前</a:t>
            </a:r>
            <a:r>
              <a:rPr lang="en-US" altLang="zh-TW" sz="12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</a:t>
            </a:r>
            <a:r>
              <a:rPr lang="zh-TW" altLang="en-US" sz="12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</a:t>
            </a:r>
            <a:r>
              <a:rPr lang="zh-TW" altLang="en-US" sz="1200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企業，位列第</a:t>
            </a:r>
            <a:r>
              <a:rPr lang="en-US" altLang="zh-TW" sz="1200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34</a:t>
            </a:r>
            <a:r>
              <a:rPr lang="zh-TW" altLang="en-US" sz="1200" u="sng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名，</a:t>
            </a:r>
            <a:r>
              <a:rPr lang="zh-TW" altLang="en-US" sz="12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成為衛浴行業以及德國企業中唯一上榜的公司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並多次榮登「德國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最佳永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續發展主要公司」排行榜前列，同時也獲得了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2017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德國聯邦政府「企業社會責任獎」，這些充分證實了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的輝煌成就。全球有很多備受矚目的項目配備了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產品，證明了建築師、設計師和開發商對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品牌的偏愛。</a:t>
            </a:r>
          </a:p>
        </p:txBody>
      </p:sp>
      <p:pic>
        <p:nvPicPr>
          <p:cNvPr id="2050" name="Picture 2" descr="https://cdn.cloud.grohe.com/Web/4_3_png/Seal_German_Sustainability_Award_2016__Top5_en_4_3/4_3/710/Seal_German_Sustainability_Award_2016__Top5_en_4_3_4_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608" y="4217769"/>
            <a:ext cx="2423620" cy="181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cdn.cloud.grohe.com/Web/local_assets_4_3/news/en/20170124_GROHE_CSR_Award_4_3/4_3/710/20170124_GROHE_CSR_Award_4_3_4_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964" y="4217768"/>
            <a:ext cx="2423620" cy="181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ttps://cdn.cloud.grohe.com/Web/4_3_png/CSR_Winner_GB_4_3/4_3/710/CSR_Winner_GB_4_3_4_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177" y="4217768"/>
            <a:ext cx="2680838" cy="200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 0"/>
          <p:cNvSpPr/>
          <p:nvPr/>
        </p:nvSpPr>
        <p:spPr>
          <a:xfrm>
            <a:off x="0" y="0"/>
            <a:ext cx="9906000" cy="895698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E2A4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Box 27"/>
          <p:cNvSpPr txBox="1">
            <a:spLocks noChangeArrowheads="1"/>
          </p:cNvSpPr>
          <p:nvPr/>
        </p:nvSpPr>
        <p:spPr bwMode="auto">
          <a:xfrm>
            <a:off x="8160411" y="278572"/>
            <a:ext cx="1745589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zh-TW" altLang="en-US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企業簡介</a:t>
            </a:r>
            <a:endParaRPr lang="zh-TW" alt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Picture 4"/>
          <p:cNvPicPr>
            <a:picLocks noChangeAspect="1"/>
          </p:cNvPicPr>
          <p:nvPr/>
        </p:nvPicPr>
        <p:blipFill rotWithShape="1">
          <a:blip r:embed="rId5"/>
          <a:srcRect l="5837" t="10977" r="6148" b="10977"/>
          <a:stretch/>
        </p:blipFill>
        <p:spPr>
          <a:xfrm>
            <a:off x="232048" y="133043"/>
            <a:ext cx="992349" cy="629612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61616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0"/>
          <p:cNvSpPr/>
          <p:nvPr/>
        </p:nvSpPr>
        <p:spPr>
          <a:xfrm>
            <a:off x="0" y="0"/>
            <a:ext cx="9906000" cy="895698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E2A4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8160411" y="278572"/>
            <a:ext cx="1745589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zh-TW" altLang="en-US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企業簡介</a:t>
            </a:r>
            <a:endParaRPr lang="zh-TW" alt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8" name="Picture 4"/>
          <p:cNvPicPr>
            <a:picLocks noChangeAspect="1"/>
          </p:cNvPicPr>
          <p:nvPr/>
        </p:nvPicPr>
        <p:blipFill rotWithShape="1">
          <a:blip r:embed="rId2"/>
          <a:srcRect l="5837" t="10977" r="6148" b="10977"/>
          <a:stretch/>
        </p:blipFill>
        <p:spPr>
          <a:xfrm>
            <a:off x="232048" y="133043"/>
            <a:ext cx="992349" cy="629612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11" name="Picture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" y="1303020"/>
            <a:ext cx="8023859" cy="5265420"/>
          </a:xfrm>
          <a:prstGeom prst="rect">
            <a:avLst/>
          </a:prstGeom>
        </p:spPr>
      </p:pic>
      <p:sp>
        <p:nvSpPr>
          <p:cNvPr id="14" name="TextBox 73"/>
          <p:cNvSpPr txBox="1"/>
          <p:nvPr/>
        </p:nvSpPr>
        <p:spPr>
          <a:xfrm>
            <a:off x="993681" y="5478008"/>
            <a:ext cx="875197" cy="2043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66250"/>
              </a:lnSpc>
              <a:tabLst>
                <a:tab pos="572071" algn="l"/>
              </a:tabLst>
            </a:pPr>
            <a:r>
              <a:rPr lang="en-US" altLang="zh-CN" sz="800" b="1" spc="-5" dirty="0">
                <a:solidFill>
                  <a:srgbClr val="000000"/>
                </a:solidFill>
                <a:latin typeface="Calibri"/>
                <a:ea typeface="Calibri"/>
              </a:rPr>
              <a:t>Düsseldorf	</a:t>
            </a:r>
            <a:r>
              <a:rPr lang="en-US" altLang="zh-CN" sz="800" spc="-10" dirty="0">
                <a:solidFill>
                  <a:srgbClr val="000000"/>
                </a:solidFill>
                <a:latin typeface="Calibri"/>
                <a:ea typeface="Calibri"/>
              </a:rPr>
              <a:t>Hemer</a:t>
            </a:r>
          </a:p>
        </p:txBody>
      </p:sp>
      <p:sp>
        <p:nvSpPr>
          <p:cNvPr id="15" name="TextBox 74"/>
          <p:cNvSpPr txBox="1"/>
          <p:nvPr/>
        </p:nvSpPr>
        <p:spPr>
          <a:xfrm>
            <a:off x="1545585" y="5903697"/>
            <a:ext cx="239625" cy="1255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</a:pPr>
            <a:r>
              <a:rPr lang="en-US" altLang="zh-CN" sz="800" spc="-5" dirty="0">
                <a:solidFill>
                  <a:srgbClr val="000000"/>
                </a:solidFill>
                <a:latin typeface="Calibri"/>
                <a:ea typeface="Calibri"/>
              </a:rPr>
              <a:t>La</a:t>
            </a:r>
            <a:r>
              <a:rPr lang="en-US" altLang="zh-CN" sz="800" dirty="0">
                <a:solidFill>
                  <a:srgbClr val="000000"/>
                </a:solidFill>
                <a:latin typeface="Calibri"/>
                <a:ea typeface="Calibri"/>
              </a:rPr>
              <a:t>hr</a:t>
            </a:r>
          </a:p>
        </p:txBody>
      </p:sp>
      <p:sp>
        <p:nvSpPr>
          <p:cNvPr id="16" name="TextBox 75"/>
          <p:cNvSpPr txBox="1"/>
          <p:nvPr/>
        </p:nvSpPr>
        <p:spPr>
          <a:xfrm>
            <a:off x="7120609" y="6094772"/>
            <a:ext cx="1448258" cy="4231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zh-TW" altLang="en-US" sz="10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總部</a:t>
            </a:r>
            <a:endParaRPr lang="en-US" altLang="zh-CN" sz="10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0">
              <a:lnSpc>
                <a:spcPct val="88749"/>
              </a:lnSpc>
            </a:pPr>
            <a:r>
              <a:rPr lang="zh-TW" altLang="en-US" sz="10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生產工廠</a:t>
            </a:r>
            <a:endParaRPr lang="en-US" altLang="zh-CN" sz="1000" spc="-5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0">
              <a:lnSpc>
                <a:spcPct val="85833"/>
              </a:lnSpc>
            </a:pPr>
            <a:r>
              <a:rPr lang="zh-TW" altLang="en-US" sz="10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銷售據點與辦事處</a:t>
            </a:r>
            <a:endParaRPr lang="en-US" altLang="zh-CN" sz="10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9" name="Rectangle 2"/>
          <p:cNvSpPr/>
          <p:nvPr/>
        </p:nvSpPr>
        <p:spPr>
          <a:xfrm>
            <a:off x="248457" y="5212081"/>
            <a:ext cx="2162451" cy="2178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1280010">
              <a:lnSpc>
                <a:spcPct val="101666"/>
              </a:lnSpc>
            </a:pPr>
            <a:r>
              <a:rPr lang="en-US" altLang="zh-CN" sz="800" dirty="0">
                <a:solidFill>
                  <a:srgbClr val="000000"/>
                </a:solidFill>
                <a:ea typeface="Calibri"/>
              </a:rPr>
              <a:t>Porta</a:t>
            </a:r>
            <a:r>
              <a:rPr lang="en-US" altLang="zh-CN" sz="800" spc="-20" dirty="0">
                <a:solidFill>
                  <a:srgbClr val="000000"/>
                </a:solidFill>
                <a:cs typeface="Calibri"/>
              </a:rPr>
              <a:t> </a:t>
            </a:r>
            <a:r>
              <a:rPr lang="en-US" altLang="zh-CN" sz="800" dirty="0" err="1">
                <a:solidFill>
                  <a:srgbClr val="000000"/>
                </a:solidFill>
                <a:ea typeface="Calibri"/>
              </a:rPr>
              <a:t>Westfalica</a:t>
            </a:r>
            <a:endParaRPr lang="en-US" altLang="zh-CN" sz="800" dirty="0">
              <a:solidFill>
                <a:srgbClr val="000000"/>
              </a:solidFill>
              <a:ea typeface="Calibri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8563" y="1196752"/>
            <a:ext cx="2740221" cy="777072"/>
          </a:xfrm>
          <a:prstGeom prst="rect">
            <a:avLst/>
          </a:prstGeom>
          <a:solidFill>
            <a:schemeClr val="bg1"/>
          </a:solidFill>
          <a:ln w="1270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hangingPunct="0">
              <a:lnSpc>
                <a:spcPct val="98333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•</a:t>
            </a:r>
            <a:r>
              <a:rPr lang="zh-TW" altLang="en-US" sz="1400" dirty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400" dirty="0" smtClean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NO.1</a:t>
            </a:r>
            <a:r>
              <a:rPr lang="zh-TW" altLang="en-US" sz="1400" dirty="0" smtClean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全球品牌</a:t>
            </a:r>
            <a:r>
              <a:rPr lang="zh-TW" altLang="en-US" sz="1400" dirty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行銷</a:t>
            </a:r>
            <a:r>
              <a:rPr lang="zh-TW" altLang="en-US" sz="1400" dirty="0" smtClean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於</a:t>
            </a:r>
            <a:r>
              <a:rPr lang="en-US" altLang="zh-TW" sz="1400" dirty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150</a:t>
            </a:r>
            <a:r>
              <a:rPr lang="zh-TW" altLang="en-US" sz="1400" dirty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個國家</a:t>
            </a:r>
            <a:endParaRPr lang="en-US" altLang="zh-CN" sz="1400" dirty="0">
              <a:solidFill>
                <a:srgbClr val="00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hangingPunct="0">
              <a:lnSpc>
                <a:spcPct val="98333"/>
              </a:lnSpc>
              <a:spcBef>
                <a:spcPts val="179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•</a:t>
            </a:r>
            <a:r>
              <a:rPr lang="zh-TW" altLang="en-US" sz="1400" dirty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1400" dirty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6% </a:t>
            </a:r>
            <a:r>
              <a:rPr lang="zh-TW" altLang="en-US" sz="1400" dirty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的全球市占率</a:t>
            </a:r>
            <a:endParaRPr lang="en-US" altLang="zh-TW" sz="1400" dirty="0">
              <a:solidFill>
                <a:srgbClr val="00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hangingPunct="0">
              <a:lnSpc>
                <a:spcPct val="98333"/>
              </a:lnSpc>
              <a:spcBef>
                <a:spcPts val="179"/>
              </a:spcBef>
            </a:pPr>
            <a:r>
              <a:rPr lang="en-US" altLang="zh-CN" sz="1400" dirty="0" smtClean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•</a:t>
            </a:r>
            <a:r>
              <a:rPr lang="zh-TW" altLang="en-US" sz="1400" dirty="0" smtClean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在</a:t>
            </a:r>
            <a:r>
              <a:rPr lang="zh-TW" altLang="en-US" sz="1400" dirty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歐洲主要市場排名第一</a:t>
            </a:r>
            <a:endParaRPr lang="en-US" altLang="zh-TW" sz="1400" dirty="0">
              <a:solidFill>
                <a:srgbClr val="00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3" name="橢圓 2"/>
          <p:cNvSpPr/>
          <p:nvPr/>
        </p:nvSpPr>
        <p:spPr>
          <a:xfrm>
            <a:off x="3728864" y="2348879"/>
            <a:ext cx="1656184" cy="1615679"/>
          </a:xfrm>
          <a:prstGeom prst="ellips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072" y="1327943"/>
            <a:ext cx="1171575" cy="1400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2" name="TextBox 91"/>
          <p:cNvSpPr txBox="1"/>
          <p:nvPr/>
        </p:nvSpPr>
        <p:spPr>
          <a:xfrm>
            <a:off x="2360714" y="5833094"/>
            <a:ext cx="4802059" cy="1883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  <a:tabLst>
                <a:tab pos="2743200" algn="l"/>
              </a:tabLst>
            </a:pPr>
            <a:r>
              <a:rPr lang="en-US" altLang="zh-CN" sz="1200" dirty="0" err="1" smtClean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Hemer</a:t>
            </a:r>
            <a:r>
              <a:rPr lang="zh-TW" altLang="en-US" sz="1200" dirty="0" smtClean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                        </a:t>
            </a:r>
            <a:r>
              <a:rPr lang="en-US" altLang="zh-CN" sz="1200" spc="-10" dirty="0" smtClean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Faucets</a:t>
            </a:r>
            <a:endParaRPr lang="en-US" altLang="zh-CN" sz="1200" spc="-1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3" name="TextBox 92"/>
          <p:cNvSpPr txBox="1"/>
          <p:nvPr/>
        </p:nvSpPr>
        <p:spPr>
          <a:xfrm>
            <a:off x="2360713" y="5998044"/>
            <a:ext cx="4591965" cy="1883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  <a:tabLst>
                <a:tab pos="2743200" algn="l"/>
              </a:tabLst>
            </a:pPr>
            <a:r>
              <a:rPr lang="en-US" altLang="zh-CN" sz="1200" spc="-5" dirty="0" smtClean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Lahr</a:t>
            </a:r>
            <a:r>
              <a:rPr lang="zh-TW" altLang="en-US" sz="1200" spc="-5" dirty="0" smtClean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                             </a:t>
            </a:r>
            <a:r>
              <a:rPr lang="en-US" altLang="zh-CN" sz="1200" spc="-5" dirty="0" smtClean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Showers</a:t>
            </a:r>
            <a:endParaRPr lang="en-US" altLang="zh-CN" sz="1200" spc="-5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4" name="TextBox 93"/>
          <p:cNvSpPr txBox="1"/>
          <p:nvPr/>
        </p:nvSpPr>
        <p:spPr>
          <a:xfrm>
            <a:off x="2360712" y="6165985"/>
            <a:ext cx="5232045" cy="1883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  <a:tabLst>
                <a:tab pos="2743200" algn="l"/>
              </a:tabLst>
            </a:pPr>
            <a:r>
              <a:rPr lang="en-US" altLang="zh-CN" sz="12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Porta</a:t>
            </a:r>
            <a:r>
              <a:rPr lang="en-US" altLang="zh-CN" sz="1200" spc="-5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dirty="0" err="1" smtClean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Westfalica</a:t>
            </a:r>
            <a:r>
              <a:rPr lang="zh-TW" altLang="en-US" sz="1200" dirty="0" smtClean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       </a:t>
            </a:r>
            <a:r>
              <a:rPr lang="en-US" altLang="zh-CN" sz="1200" dirty="0" smtClean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Sanitary</a:t>
            </a:r>
            <a:r>
              <a:rPr lang="en-US" altLang="zh-CN" sz="1200" spc="-4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Systems</a:t>
            </a:r>
            <a:endParaRPr lang="en-US" altLang="zh-CN" sz="12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5" name="TextBox 94"/>
          <p:cNvSpPr txBox="1"/>
          <p:nvPr/>
        </p:nvSpPr>
        <p:spPr>
          <a:xfrm>
            <a:off x="2360714" y="6336959"/>
            <a:ext cx="5442212" cy="1883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1666"/>
              </a:lnSpc>
              <a:tabLst>
                <a:tab pos="2743200" algn="l"/>
              </a:tabLst>
            </a:pPr>
            <a:r>
              <a:rPr lang="en-US" altLang="zh-CN" sz="1200" dirty="0" smtClean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Düsseldorf</a:t>
            </a:r>
            <a:r>
              <a:rPr lang="zh-TW" altLang="en-US" sz="1200" dirty="0" smtClean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                 </a:t>
            </a:r>
            <a:r>
              <a:rPr lang="en-US" altLang="zh-CN" sz="1200" dirty="0" smtClean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Design</a:t>
            </a:r>
            <a:r>
              <a:rPr lang="en-US" altLang="zh-CN" sz="1200" spc="-55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Studio</a:t>
            </a:r>
            <a:endParaRPr lang="en-US" altLang="zh-CN" sz="12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2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76300" y="1109282"/>
            <a:ext cx="468148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所有的產品都需要經過最嚴格的操作測試，以確保使用順暢與完美的外觀。在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位於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黑森林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的生命週期測試實驗室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，我們的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產品經過多道嚴格的關卡以確保完美的品質。 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產品需皆經過模擬測試，在每天使用的頻繁度下模擬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年的使用次數來測驗產品之耐用性。而特別的是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會以礦物質較多的硬水來做測試。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測試結果顯示，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品質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遠超越產品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的正常使用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壽命，且若有系列停產，零件至少可持續供應十年。</a:t>
            </a:r>
            <a:endParaRPr lang="en-US" altLang="zh-TW" sz="1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200" b="1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GROHE</a:t>
            </a:r>
            <a:r>
              <a:rPr lang="zh-TW" altLang="en-US" sz="1200" b="1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獲得</a:t>
            </a:r>
            <a:r>
              <a:rPr lang="en-US" altLang="zh-CN" sz="1200" b="1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No.1</a:t>
            </a:r>
            <a:r>
              <a:rPr lang="zh-TW" altLang="en-US" sz="1200" b="1" dirty="0">
                <a:solidFill>
                  <a:srgbClr val="000000"/>
                </a:solidFill>
                <a:ea typeface="微軟正黑體" panose="020B0604030504040204" pitchFamily="34" charset="-120"/>
              </a:rPr>
              <a:t>消費者最信賴</a:t>
            </a:r>
            <a:r>
              <a:rPr lang="zh-TW" altLang="en-US" sz="1200" b="1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品牌殊榮 </a:t>
            </a:r>
            <a:r>
              <a:rPr lang="en-US" altLang="zh-TW" sz="1200" i="1" dirty="0">
                <a:solidFill>
                  <a:srgbClr val="000000"/>
                </a:solidFill>
                <a:ea typeface="微軟正黑體" panose="020B0604030504040204" pitchFamily="34" charset="-120"/>
              </a:rPr>
              <a:t>-</a:t>
            </a:r>
            <a:r>
              <a:rPr lang="en-US" altLang="zh-TW" sz="1200" i="1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--</a:t>
            </a:r>
            <a:r>
              <a:rPr lang="zh-TW" altLang="en-US" sz="1200" i="1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德國</a:t>
            </a:r>
            <a:r>
              <a:rPr lang="zh-TW" altLang="en-US" sz="1200" i="1" dirty="0">
                <a:solidFill>
                  <a:srgbClr val="000000"/>
                </a:solidFill>
                <a:ea typeface="微軟正黑體" panose="020B0604030504040204" pitchFamily="34" charset="-120"/>
              </a:rPr>
              <a:t>雜誌經濟週刊 </a:t>
            </a:r>
            <a:r>
              <a:rPr lang="en-US" altLang="zh-TW" sz="1200" i="1" dirty="0">
                <a:solidFill>
                  <a:srgbClr val="000000"/>
                </a:solidFill>
                <a:ea typeface="微軟正黑體" panose="020B0604030504040204" pitchFamily="34" charset="-120"/>
              </a:rPr>
              <a:t>2017</a:t>
            </a:r>
            <a:endParaRPr lang="en-US" altLang="zh-TW" sz="1200" i="1" dirty="0">
              <a:ea typeface="微軟正黑體" panose="020B0604030504040204" pitchFamily="34" charset="-120"/>
            </a:endParaRPr>
          </a:p>
          <a:p>
            <a:pPr>
              <a:lnSpc>
                <a:spcPct val="200000"/>
              </a:lnSpc>
            </a:pP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50" name="Picture 2" descr="Test Labou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776" y="4597281"/>
            <a:ext cx="2621004" cy="1963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 0"/>
          <p:cNvSpPr/>
          <p:nvPr/>
        </p:nvSpPr>
        <p:spPr>
          <a:xfrm>
            <a:off x="0" y="0"/>
            <a:ext cx="9906000" cy="895698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E2A4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ea typeface="微軟正黑體" panose="020B0604030504040204" pitchFamily="34" charset="-120"/>
            </a:endParaRPr>
          </a:p>
        </p:txBody>
      </p:sp>
      <p:sp>
        <p:nvSpPr>
          <p:cNvPr id="13" name="Text Box 27"/>
          <p:cNvSpPr txBox="1">
            <a:spLocks noChangeArrowheads="1"/>
          </p:cNvSpPr>
          <p:nvPr/>
        </p:nvSpPr>
        <p:spPr bwMode="auto">
          <a:xfrm>
            <a:off x="8160411" y="278572"/>
            <a:ext cx="1745589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zh-TW" altLang="en-US" sz="1600" b="1" dirty="0" smtClean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卓越品質</a:t>
            </a:r>
            <a:endParaRPr lang="zh-TW" altLang="en-US" sz="1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pic>
        <p:nvPicPr>
          <p:cNvPr id="16" name="Picture 263"/>
          <p:cNvPicPr>
            <a:picLocks noChangeAspect="1"/>
          </p:cNvPicPr>
          <p:nvPr/>
        </p:nvPicPr>
        <p:blipFill rotWithShape="1">
          <a:blip r:embed="rId3"/>
          <a:srcRect l="29755" t="16569" r="25767" b="11447"/>
          <a:stretch/>
        </p:blipFill>
        <p:spPr>
          <a:xfrm>
            <a:off x="1014053" y="4581128"/>
            <a:ext cx="1631301" cy="1980061"/>
          </a:xfrm>
          <a:prstGeom prst="rect">
            <a:avLst/>
          </a:prstGeom>
        </p:spPr>
      </p:pic>
      <p:pic>
        <p:nvPicPr>
          <p:cNvPr id="18" name="Picture 4"/>
          <p:cNvPicPr>
            <a:picLocks noChangeAspect="1"/>
          </p:cNvPicPr>
          <p:nvPr/>
        </p:nvPicPr>
        <p:blipFill rotWithShape="1">
          <a:blip r:embed="rId4"/>
          <a:srcRect l="5837" t="10977" r="6148" b="10977"/>
          <a:stretch/>
        </p:blipFill>
        <p:spPr>
          <a:xfrm>
            <a:off x="232048" y="133043"/>
            <a:ext cx="992349" cy="629612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5"/>
          <a:srcRect l="15773" r="12619"/>
          <a:stretch/>
        </p:blipFill>
        <p:spPr>
          <a:xfrm>
            <a:off x="6249144" y="1268760"/>
            <a:ext cx="3078770" cy="2146904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6224707" y="3415664"/>
            <a:ext cx="3103207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kumimoji="1" lang="zh-TW" altLang="en-US" sz="1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實心</a:t>
            </a:r>
            <a:r>
              <a:rPr kumimoji="1" lang="zh-TW" altLang="en-US" sz="1200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把手</a:t>
            </a:r>
            <a:endParaRPr kumimoji="1" lang="en-US" altLang="zh-TW" sz="1200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290" name="Picture 2" descr="https://cdn.cloud.grohe.com/Web/4_3/ZZH_GROHE_PVDC01_000_01_4_3/4_3/710/ZZH_GROHE_PVDC01_000_01_4_3_4_3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880" y="3691803"/>
            <a:ext cx="3507469" cy="262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字方塊 13"/>
          <p:cNvSpPr txBox="1"/>
          <p:nvPr/>
        </p:nvSpPr>
        <p:spPr>
          <a:xfrm>
            <a:off x="6205816" y="6422689"/>
            <a:ext cx="3471598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ctr"/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優質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鍍層工藝，更厚、更耐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腐蝕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762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817341" y="1571338"/>
            <a:ext cx="51437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結合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領先的工藝技術、高效的團隊合作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和專業化的製造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技術大師們在研發、設計以及製造頂級產品系列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方面，在業界都成為領導者的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角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色，對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每件產品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進行嚴格測試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與微調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，以確保客戶最高的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滿意度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1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>
              <a:lnSpc>
                <a:spcPct val="150000"/>
              </a:lnSpc>
            </a:pPr>
            <a:r>
              <a:rPr lang="zh-TW" altLang="en-US" sz="1200" dirty="0">
                <a:solidFill>
                  <a:srgbClr val="000000"/>
                </a:solidFill>
                <a:ea typeface="微軟正黑體" panose="020B0604030504040204" pitchFamily="34" charset="-120"/>
              </a:rPr>
              <a:t>在不斷尋求技術創新的過程中，我們致力於收集與整合最新的數據資訊，以創造智能先進的解決方案，增進客戶的用水樂趣與享受。</a:t>
            </a:r>
            <a:r>
              <a:rPr lang="en-US" altLang="zh-TW" sz="1200" dirty="0">
                <a:solidFill>
                  <a:srgbClr val="000000"/>
                </a:solidFill>
                <a:ea typeface="微軟正黑體" panose="020B0604030504040204" pitchFamily="34" charset="-120"/>
              </a:rPr>
              <a:t>GROHE</a:t>
            </a:r>
            <a:r>
              <a:rPr lang="zh-TW" altLang="en-US" sz="1200" dirty="0">
                <a:solidFill>
                  <a:srgbClr val="000000"/>
                </a:solidFill>
                <a:ea typeface="微軟正黑體" panose="020B0604030504040204" pitchFamily="34" charset="-120"/>
              </a:rPr>
              <a:t>的內部專家採用專業技術掌握水資源的應用，來大幅提升客戶的日常體驗</a:t>
            </a:r>
            <a:r>
              <a:rPr lang="zh-TW" altLang="en-US" sz="1200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。</a:t>
            </a:r>
            <a:endParaRPr lang="en-US" altLang="zh-TW" sz="1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Freeform 0"/>
          <p:cNvSpPr/>
          <p:nvPr/>
        </p:nvSpPr>
        <p:spPr>
          <a:xfrm>
            <a:off x="0" y="0"/>
            <a:ext cx="9906000" cy="895698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E2A4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ea typeface="微軟正黑體" panose="020B0604030504040204" pitchFamily="34" charset="-120"/>
            </a:endParaRPr>
          </a:p>
        </p:txBody>
      </p:sp>
      <p:sp>
        <p:nvSpPr>
          <p:cNvPr id="35" name="Text Box 27"/>
          <p:cNvSpPr txBox="1">
            <a:spLocks noChangeArrowheads="1"/>
          </p:cNvSpPr>
          <p:nvPr/>
        </p:nvSpPr>
        <p:spPr bwMode="auto">
          <a:xfrm>
            <a:off x="8160411" y="278572"/>
            <a:ext cx="1745589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zh-TW" altLang="en-US" sz="1600" b="1" dirty="0" smtClean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領先技術</a:t>
            </a:r>
            <a:endParaRPr lang="zh-TW" altLang="en-US" sz="1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0251" y="1105646"/>
            <a:ext cx="1720167" cy="2222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6678477" y="3328101"/>
            <a:ext cx="2640045" cy="274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TW" sz="900" i="1" dirty="0">
                <a:solidFill>
                  <a:srgbClr val="000000"/>
                </a:solidFill>
                <a:ea typeface="微軟正黑體" panose="020B0604030504040204" pitchFamily="34" charset="-120"/>
              </a:rPr>
              <a:t>2017</a:t>
            </a:r>
            <a:r>
              <a:rPr lang="zh-TW" altLang="en-US" sz="900" i="1" dirty="0">
                <a:solidFill>
                  <a:srgbClr val="000000"/>
                </a:solidFill>
                <a:ea typeface="微軟正黑體" panose="020B0604030504040204" pitchFamily="34" charset="-120"/>
              </a:rPr>
              <a:t>財富雜誌評選</a:t>
            </a:r>
            <a:r>
              <a:rPr lang="zh-TW" altLang="en-US" sz="900" i="1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為「</a:t>
            </a:r>
            <a:r>
              <a:rPr lang="zh-TW" altLang="en-US" sz="900" i="1" dirty="0">
                <a:solidFill>
                  <a:srgbClr val="000000"/>
                </a:solidFill>
                <a:ea typeface="微軟正黑體" panose="020B0604030504040204" pitchFamily="34" charset="-120"/>
              </a:rPr>
              <a:t>改變世界」前</a:t>
            </a:r>
            <a:r>
              <a:rPr lang="en-US" altLang="zh-CN" sz="900" i="1" dirty="0">
                <a:solidFill>
                  <a:srgbClr val="000000"/>
                </a:solidFill>
                <a:ea typeface="微軟正黑體" panose="020B0604030504040204" pitchFamily="34" charset="-120"/>
                <a:cs typeface="Calibri"/>
              </a:rPr>
              <a:t> </a:t>
            </a:r>
            <a:r>
              <a:rPr lang="en-US" altLang="zh-CN" sz="900" i="1" dirty="0">
                <a:solidFill>
                  <a:srgbClr val="000000"/>
                </a:solidFill>
                <a:ea typeface="微軟正黑體" panose="020B0604030504040204" pitchFamily="34" charset="-120"/>
              </a:rPr>
              <a:t>50</a:t>
            </a:r>
            <a:r>
              <a:rPr lang="zh-TW" altLang="en-US" sz="900" i="1" dirty="0">
                <a:solidFill>
                  <a:srgbClr val="000000"/>
                </a:solidFill>
                <a:ea typeface="微軟正黑體" panose="020B0604030504040204" pitchFamily="34" charset="-120"/>
              </a:rPr>
              <a:t>名企業</a:t>
            </a:r>
            <a:endParaRPr lang="en-US" altLang="zh-TW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1" name="Picture 4"/>
          <p:cNvPicPr>
            <a:picLocks noChangeAspect="1"/>
          </p:cNvPicPr>
          <p:nvPr/>
        </p:nvPicPr>
        <p:blipFill rotWithShape="1">
          <a:blip r:embed="rId3"/>
          <a:srcRect l="5837" t="10977" r="6148" b="10977"/>
          <a:stretch/>
        </p:blipFill>
        <p:spPr>
          <a:xfrm>
            <a:off x="232048" y="133043"/>
            <a:ext cx="992349" cy="629612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656" y="4430914"/>
            <a:ext cx="5066756" cy="1771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3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5451" y="3862026"/>
            <a:ext cx="3120775" cy="234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8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0"/>
          <p:cNvSpPr/>
          <p:nvPr/>
        </p:nvSpPr>
        <p:spPr>
          <a:xfrm>
            <a:off x="0" y="0"/>
            <a:ext cx="9906000" cy="895698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E2A4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ea typeface="微軟正黑體" panose="020B0604030504040204" pitchFamily="34" charset="-120"/>
            </a:endParaRPr>
          </a:p>
        </p:txBody>
      </p:sp>
      <p:sp>
        <p:nvSpPr>
          <p:cNvPr id="16" name="Text Box 27"/>
          <p:cNvSpPr txBox="1">
            <a:spLocks noChangeArrowheads="1"/>
          </p:cNvSpPr>
          <p:nvPr/>
        </p:nvSpPr>
        <p:spPr bwMode="auto">
          <a:xfrm>
            <a:off x="8160411" y="278572"/>
            <a:ext cx="1745589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zh-TW" altLang="en-US" sz="1600" b="1" dirty="0" smtClean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創新設計</a:t>
            </a:r>
            <a:endParaRPr lang="zh-TW" altLang="en-US" sz="1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pic>
        <p:nvPicPr>
          <p:cNvPr id="23" name="Picture 4"/>
          <p:cNvPicPr>
            <a:picLocks noChangeAspect="1"/>
          </p:cNvPicPr>
          <p:nvPr/>
        </p:nvPicPr>
        <p:blipFill rotWithShape="1">
          <a:blip r:embed="rId2"/>
          <a:srcRect l="5837" t="10977" r="6148" b="10977"/>
          <a:stretch/>
        </p:blipFill>
        <p:spPr>
          <a:xfrm>
            <a:off x="232048" y="133043"/>
            <a:ext cx="992349" cy="629612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sp>
        <p:nvSpPr>
          <p:cNvPr id="12" name="矩形 11"/>
          <p:cNvSpPr/>
          <p:nvPr/>
        </p:nvSpPr>
        <p:spPr>
          <a:xfrm>
            <a:off x="862825" y="1470087"/>
            <a:ext cx="3901680" cy="3347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屢獲殊榮的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IN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HOUSE</a:t>
            </a:r>
            <a:r>
              <a:rPr lang="zh-TW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設計團隊</a:t>
            </a:r>
            <a:endParaRPr lang="en-US" altLang="zh-TW" sz="1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透過設計與良好的體驗，渴望與客戶擁有強烈的情感連結，因此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時常思考產品要提供的對象是誰，進而做出好的設計。</a:t>
            </a:r>
            <a:endParaRPr lang="en-US" altLang="zh-TW" sz="1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我們樂於激發這個世界，挑戰且打破既有的規範，甚至於影響與創造更好的未來。</a:t>
            </a:r>
            <a:endParaRPr lang="en-US" altLang="zh-TW" sz="12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創造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DNA</a:t>
            </a:r>
          </a:p>
          <a:p>
            <a:pPr>
              <a:lnSpc>
                <a:spcPct val="150000"/>
              </a:lnSpc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三個標誌性元素為我們的產品組合帶來了設計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的一致性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 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獨特的視覺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DNA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使客戶可以一眼就辨識出</a:t>
            </a:r>
            <a:r>
              <a:rPr lang="en-US" altLang="zh-TW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GROHE</a:t>
            </a:r>
            <a:r>
              <a:rPr lang="zh-TW" altLang="en-US" sz="12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的產品。</a:t>
            </a: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Picture 2" descr="https://cdn.cloud.grohe.com/Web/4_3/Grohe_Signature_Elements_forexternal_4_3/4_3/710/Grohe_Signature_Elements_forexternal_4_3_4_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44" y="5468269"/>
            <a:ext cx="1091919" cy="817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s://cdn.cloud.grohe.com/Web/4_3/Grohe_Signature_Elements_forexternal_2_4_3/4_3/710/Grohe_Signature_Elements_forexternal_2_4_3_4_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383" y="5430911"/>
            <a:ext cx="1123362" cy="84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https://cdn.cloud.grohe.com/Web/4_3/Grohe_Signature_Elements_forexternal_3_4_3/4_3/710/Grohe_Signature_Elements_forexternal_3_4_3_4_3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222" y="5389197"/>
            <a:ext cx="1243417" cy="93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GROHE India on Twitter: &quot;We have some great news! Nine #GROHE products won  the #RedDotDesignAward! The panel of experts only awards the  internationally recognized seal of quality to products that wow them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153" y="4188966"/>
            <a:ext cx="4038769" cy="2120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2" t="2206" r="1828" b="916"/>
          <a:stretch/>
        </p:blipFill>
        <p:spPr bwMode="auto">
          <a:xfrm>
            <a:off x="7035081" y="2279123"/>
            <a:ext cx="2566257" cy="1728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085" y="1397119"/>
            <a:ext cx="2310856" cy="1726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849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0"/>
          <p:cNvSpPr/>
          <p:nvPr/>
        </p:nvSpPr>
        <p:spPr>
          <a:xfrm>
            <a:off x="0" y="0"/>
            <a:ext cx="9906000" cy="895698"/>
          </a:xfrm>
          <a:custGeom>
            <a:avLst/>
            <a:gdLst>
              <a:gd name="connsiteX0" fmla="*/ 0 w 9144000"/>
              <a:gd name="connsiteY0" fmla="*/ 6858000 h 6858000"/>
              <a:gd name="connsiteX1" fmla="*/ 9144000 w 9144000"/>
              <a:gd name="connsiteY1" fmla="*/ 6858000 h 6858000"/>
              <a:gd name="connsiteX2" fmla="*/ 9144000 w 9144000"/>
              <a:gd name="connsiteY2" fmla="*/ 0 h 6858000"/>
              <a:gd name="connsiteX3" fmla="*/ 0 w 9144000"/>
              <a:gd name="connsiteY3" fmla="*/ 0 h 6858000"/>
              <a:gd name="connsiteX4" fmla="*/ 0 w 9144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E2A4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ea typeface="微軟正黑體" panose="020B0604030504040204" pitchFamily="34" charset="-120"/>
            </a:endParaRPr>
          </a:p>
        </p:txBody>
      </p:sp>
      <p:sp>
        <p:nvSpPr>
          <p:cNvPr id="15" name="Text Box 27"/>
          <p:cNvSpPr txBox="1">
            <a:spLocks noChangeArrowheads="1"/>
          </p:cNvSpPr>
          <p:nvPr/>
        </p:nvSpPr>
        <p:spPr bwMode="auto">
          <a:xfrm>
            <a:off x="8160411" y="278572"/>
            <a:ext cx="1745589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lang="zh-TW" altLang="en-US" sz="1600" b="1" dirty="0" smtClean="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rPr>
              <a:t>永續發展</a:t>
            </a:r>
            <a:endParaRPr lang="zh-TW" altLang="en-US" sz="1600" b="1" dirty="0">
              <a:solidFill>
                <a:schemeClr val="bg1"/>
              </a:solidFill>
              <a:latin typeface="+mn-lt"/>
              <a:ea typeface="微軟正黑體" panose="020B0604030504040204" pitchFamily="34" charset="-120"/>
            </a:endParaRPr>
          </a:p>
        </p:txBody>
      </p:sp>
      <p:pic>
        <p:nvPicPr>
          <p:cNvPr id="18" name="Picture 300"/>
          <p:cNvPicPr>
            <a:picLocks noChangeAspect="1"/>
          </p:cNvPicPr>
          <p:nvPr/>
        </p:nvPicPr>
        <p:blipFill rotWithShape="1">
          <a:blip r:embed="rId2"/>
          <a:srcRect l="59474" t="27460" r="12842" b="42786"/>
          <a:stretch/>
        </p:blipFill>
        <p:spPr>
          <a:xfrm>
            <a:off x="5628967" y="1732547"/>
            <a:ext cx="2531444" cy="2040556"/>
          </a:xfrm>
          <a:prstGeom prst="rect">
            <a:avLst/>
          </a:prstGeom>
        </p:spPr>
      </p:pic>
      <p:pic>
        <p:nvPicPr>
          <p:cNvPr id="19" name="Picture 300"/>
          <p:cNvPicPr>
            <a:picLocks noChangeAspect="1"/>
          </p:cNvPicPr>
          <p:nvPr/>
        </p:nvPicPr>
        <p:blipFill rotWithShape="1">
          <a:blip r:embed="rId2"/>
          <a:srcRect l="9579" t="32012" r="55035" b="45392"/>
          <a:stretch/>
        </p:blipFill>
        <p:spPr>
          <a:xfrm>
            <a:off x="851987" y="1977991"/>
            <a:ext cx="3235692" cy="154966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72829" y="4029851"/>
            <a:ext cx="4953000" cy="12926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162497" hangingPunct="0">
              <a:lnSpc>
                <a:spcPct val="100000"/>
              </a:lnSpc>
            </a:pPr>
            <a:r>
              <a:rPr lang="zh-TW" altLang="en-US" sz="1400" b="1" dirty="0">
                <a:solidFill>
                  <a:srgbClr val="000000"/>
                </a:solidFill>
                <a:ea typeface="微軟正黑體" panose="020B0604030504040204" pitchFamily="34" charset="-120"/>
              </a:rPr>
              <a:t>致力於保護珍貴的水</a:t>
            </a:r>
            <a:r>
              <a:rPr lang="zh-TW" altLang="en-US" sz="1400" b="1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資源：</a:t>
            </a:r>
            <a:endParaRPr lang="en-US" altLang="zh-TW" sz="1400" b="1" dirty="0" smtClean="0">
              <a:solidFill>
                <a:srgbClr val="000000"/>
              </a:solidFill>
              <a:ea typeface="微軟正黑體" panose="020B0604030504040204" pitchFamily="34" charset="-120"/>
            </a:endParaRPr>
          </a:p>
          <a:p>
            <a:pPr marL="162497" hangingPunct="0">
              <a:lnSpc>
                <a:spcPct val="100000"/>
              </a:lnSpc>
            </a:pPr>
            <a:r>
              <a:rPr lang="zh-TW" altLang="en-US" sz="1400" b="1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榮獲</a:t>
            </a:r>
            <a:r>
              <a:rPr lang="zh-TW" altLang="en-US" sz="1400" b="1" dirty="0">
                <a:solidFill>
                  <a:srgbClr val="000000"/>
                </a:solidFill>
                <a:ea typeface="微軟正黑體" panose="020B0604030504040204" pitchFamily="34" charset="-120"/>
              </a:rPr>
              <a:t>德國政府企業的社會責任獎</a:t>
            </a:r>
            <a:endParaRPr lang="en-US" altLang="zh-TW" sz="1400" b="1" dirty="0">
              <a:solidFill>
                <a:srgbClr val="000000"/>
              </a:solidFill>
              <a:ea typeface="微軟正黑體" panose="020B0604030504040204" pitchFamily="34" charset="-120"/>
            </a:endParaRPr>
          </a:p>
          <a:p>
            <a:pPr marL="162497" hangingPunct="0">
              <a:lnSpc>
                <a:spcPct val="100000"/>
              </a:lnSpc>
            </a:pPr>
            <a:endParaRPr lang="en-US" altLang="zh-TW" sz="1400" dirty="0"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448222" algn="l"/>
              </a:tabLst>
            </a:pPr>
            <a:r>
              <a:rPr lang="zh-TW" altLang="en-US" sz="1200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在</a:t>
            </a:r>
            <a:r>
              <a:rPr lang="zh-TW" altLang="en-US" sz="1200" dirty="0">
                <a:solidFill>
                  <a:srgbClr val="000000"/>
                </a:solidFill>
                <a:ea typeface="微軟正黑體" panose="020B0604030504040204" pitchFamily="34" charset="-120"/>
              </a:rPr>
              <a:t>「擁有</a:t>
            </a:r>
            <a:r>
              <a:rPr lang="en-US" altLang="zh-TW" sz="1200" dirty="0">
                <a:solidFill>
                  <a:srgbClr val="000000"/>
                </a:solidFill>
                <a:ea typeface="微軟正黑體" panose="020B0604030504040204" pitchFamily="34" charset="-120"/>
              </a:rPr>
              <a:t>1,000</a:t>
            </a:r>
            <a:r>
              <a:rPr lang="zh-TW" altLang="en-US" sz="1200" dirty="0">
                <a:solidFill>
                  <a:srgbClr val="000000"/>
                </a:solidFill>
                <a:ea typeface="微軟正黑體" panose="020B0604030504040204" pitchFamily="34" charset="-120"/>
              </a:rPr>
              <a:t>多名員工的公司」中</a:t>
            </a:r>
            <a:r>
              <a:rPr lang="zh-TW" altLang="en-US" sz="1200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名列第一</a:t>
            </a:r>
            <a:endParaRPr lang="en-US" altLang="zh-TW" sz="1200" dirty="0">
              <a:solidFill>
                <a:srgbClr val="000000"/>
              </a:solidFill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448222" algn="l"/>
              </a:tabLst>
            </a:pPr>
            <a:r>
              <a:rPr lang="zh-TW" altLang="en-US" sz="1200" spc="-5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永</a:t>
            </a:r>
            <a:r>
              <a:rPr lang="zh-TW" altLang="en-US" sz="1200" spc="-5" dirty="0">
                <a:solidFill>
                  <a:srgbClr val="000000"/>
                </a:solidFill>
                <a:ea typeface="微軟正黑體" panose="020B0604030504040204" pitchFamily="34" charset="-120"/>
              </a:rPr>
              <a:t>續發展是公司策略組成的</a:t>
            </a:r>
            <a:r>
              <a:rPr lang="zh-TW" altLang="en-US" sz="1200" spc="-5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一部分</a:t>
            </a:r>
            <a:endParaRPr lang="en-US" altLang="zh-TW" sz="1200" spc="-5" dirty="0">
              <a:solidFill>
                <a:srgbClr val="000000"/>
              </a:solidFill>
              <a:ea typeface="微軟正黑體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  <a:tabLst>
                <a:tab pos="448222" algn="l"/>
              </a:tabLst>
            </a:pPr>
            <a:r>
              <a:rPr lang="zh-TW" altLang="en-US" sz="1200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有望</a:t>
            </a:r>
            <a:r>
              <a:rPr lang="zh-TW" altLang="en-US" sz="1200" dirty="0">
                <a:solidFill>
                  <a:srgbClr val="000000"/>
                </a:solidFill>
                <a:ea typeface="微軟正黑體" panose="020B0604030504040204" pitchFamily="34" charset="-120"/>
              </a:rPr>
              <a:t>在</a:t>
            </a:r>
            <a:r>
              <a:rPr lang="en-US" altLang="zh-TW" sz="1200" dirty="0">
                <a:solidFill>
                  <a:srgbClr val="000000"/>
                </a:solidFill>
                <a:ea typeface="微軟正黑體" panose="020B0604030504040204" pitchFamily="34" charset="-120"/>
              </a:rPr>
              <a:t>2020</a:t>
            </a:r>
            <a:r>
              <a:rPr lang="zh-TW" altLang="en-US" sz="1200" dirty="0">
                <a:solidFill>
                  <a:srgbClr val="000000"/>
                </a:solidFill>
                <a:ea typeface="微軟正黑體" panose="020B0604030504040204" pitchFamily="34" charset="-120"/>
              </a:rPr>
              <a:t>年成為全球衛生組織</a:t>
            </a:r>
            <a:r>
              <a:rPr lang="zh-TW" altLang="en-US" sz="1200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的最具有</a:t>
            </a:r>
            <a:r>
              <a:rPr lang="zh-TW" altLang="en-US" sz="1200" dirty="0">
                <a:solidFill>
                  <a:srgbClr val="000000"/>
                </a:solidFill>
                <a:ea typeface="微軟正黑體" panose="020B0604030504040204" pitchFamily="34" charset="-120"/>
              </a:rPr>
              <a:t>永</a:t>
            </a:r>
            <a:r>
              <a:rPr lang="zh-TW" altLang="en-US" sz="1200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續發展的公司</a:t>
            </a:r>
            <a:endParaRPr lang="en-US" altLang="zh-CN" sz="1200" dirty="0">
              <a:solidFill>
                <a:srgbClr val="000000"/>
              </a:solidFill>
              <a:ea typeface="微軟正黑體" panose="020B0604030504040204" pitchFamily="34" charset="-120"/>
            </a:endParaRPr>
          </a:p>
        </p:txBody>
      </p:sp>
      <p:sp>
        <p:nvSpPr>
          <p:cNvPr id="20" name="TextBox 301"/>
          <p:cNvSpPr txBox="1"/>
          <p:nvPr/>
        </p:nvSpPr>
        <p:spPr>
          <a:xfrm>
            <a:off x="5632382" y="4029851"/>
            <a:ext cx="3400823" cy="13919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01250"/>
              </a:lnSpc>
            </a:pPr>
            <a:r>
              <a:rPr lang="zh-TW" altLang="en-US" sz="1400" b="1" dirty="0">
                <a:solidFill>
                  <a:srgbClr val="000000"/>
                </a:solidFill>
                <a:ea typeface="微軟正黑體" panose="020B0604030504040204" pitchFamily="34" charset="-120"/>
              </a:rPr>
              <a:t>德國永續發展</a:t>
            </a:r>
            <a:r>
              <a:rPr lang="zh-TW" altLang="en-US" sz="1400" b="1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獎</a:t>
            </a:r>
            <a:r>
              <a:rPr lang="zh-TW" altLang="en-US" sz="1400" b="1" dirty="0">
                <a:solidFill>
                  <a:srgbClr val="000000"/>
                </a:solidFill>
                <a:ea typeface="微軟正黑體" panose="020B0604030504040204" pitchFamily="34" charset="-120"/>
              </a:rPr>
              <a:t>：</a:t>
            </a:r>
            <a:endParaRPr lang="en-US" altLang="zh-TW" sz="1400" b="1" dirty="0">
              <a:solidFill>
                <a:srgbClr val="000000"/>
              </a:solidFill>
              <a:ea typeface="微軟正黑體" panose="020B0604030504040204" pitchFamily="34" charset="-120"/>
            </a:endParaRPr>
          </a:p>
          <a:p>
            <a:pPr marL="0" hangingPunct="0">
              <a:lnSpc>
                <a:spcPct val="101250"/>
              </a:lnSpc>
            </a:pPr>
            <a:r>
              <a:rPr lang="en-US" altLang="zh-TW" sz="1400" b="1" dirty="0">
                <a:solidFill>
                  <a:srgbClr val="000000"/>
                </a:solidFill>
                <a:ea typeface="微軟正黑體" panose="020B0604030504040204" pitchFamily="34" charset="-120"/>
              </a:rPr>
              <a:t>GROHE</a:t>
            </a:r>
            <a:r>
              <a:rPr lang="zh-TW" altLang="en-US" sz="1400" b="1" dirty="0">
                <a:solidFill>
                  <a:srgbClr val="000000"/>
                </a:solidFill>
                <a:ea typeface="微軟正黑體" panose="020B0604030504040204" pitchFamily="34" charset="-120"/>
              </a:rPr>
              <a:t>再次保持領先地位</a:t>
            </a:r>
            <a:endParaRPr lang="en-US" altLang="zh-CN" sz="1400" b="1" dirty="0">
              <a:solidFill>
                <a:srgbClr val="000000"/>
              </a:solidFill>
              <a:ea typeface="微軟正黑體" panose="020B0604030504040204" pitchFamily="34" charset="-120"/>
            </a:endParaRPr>
          </a:p>
          <a:p>
            <a:pPr>
              <a:lnSpc>
                <a:spcPts val="1695"/>
              </a:lnSpc>
            </a:pPr>
            <a:endParaRPr lang="en-US" sz="1400" dirty="0">
              <a:ea typeface="微軟正黑體" panose="020B0604030504040204" pitchFamily="34" charset="-12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85724" algn="l"/>
              </a:tabLst>
            </a:pPr>
            <a:r>
              <a:rPr lang="en-US" altLang="zh-CN" sz="1200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GROHE</a:t>
            </a:r>
            <a:r>
              <a:rPr lang="zh-TW" altLang="en-US" sz="1200" spc="-5" dirty="0">
                <a:solidFill>
                  <a:srgbClr val="000000"/>
                </a:solidFill>
                <a:ea typeface="微軟正黑體" panose="020B0604030504040204" pitchFamily="34" charset="-120"/>
              </a:rPr>
              <a:t>第三次成功獲得德國永續</a:t>
            </a:r>
            <a:r>
              <a:rPr lang="zh-TW" altLang="en-US" sz="1200" spc="-5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發展獎</a:t>
            </a:r>
            <a:r>
              <a:rPr lang="zh-TW" altLang="en-US" sz="1200" spc="-5" dirty="0">
                <a:solidFill>
                  <a:srgbClr val="000000"/>
                </a:solidFill>
                <a:ea typeface="微軟正黑體" panose="020B0604030504040204" pitchFamily="34" charset="-120"/>
              </a:rPr>
              <a:t>，</a:t>
            </a:r>
            <a:r>
              <a:rPr lang="zh-TW" altLang="en-US" sz="1200" spc="-5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保持領先地位</a:t>
            </a:r>
            <a:endParaRPr lang="en-US" altLang="zh-TW" sz="1200" spc="-5" dirty="0" smtClean="0">
              <a:solidFill>
                <a:srgbClr val="000000"/>
              </a:solidFill>
              <a:ea typeface="微軟正黑體" panose="020B0604030504040204" pitchFamily="34" charset="-12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85724" algn="l"/>
              </a:tabLst>
            </a:pPr>
            <a:r>
              <a:rPr lang="zh-TW" altLang="en-US" sz="1200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榮獲</a:t>
            </a:r>
            <a:r>
              <a:rPr lang="zh-TW" altLang="en-US" sz="1200" dirty="0">
                <a:solidFill>
                  <a:srgbClr val="000000"/>
                </a:solidFill>
                <a:ea typeface="微軟正黑體" panose="020B0604030504040204" pitchFamily="34" charset="-120"/>
              </a:rPr>
              <a:t>「德國永續發展的企業」前三名 </a:t>
            </a:r>
            <a:r>
              <a:rPr lang="zh-TW" altLang="en-US" sz="1200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之</a:t>
            </a:r>
            <a:r>
              <a:rPr lang="zh-TW" altLang="en-US" sz="1200" dirty="0">
                <a:solidFill>
                  <a:srgbClr val="000000"/>
                </a:solidFill>
                <a:ea typeface="微軟正黑體" panose="020B0604030504040204" pitchFamily="34" charset="-120"/>
              </a:rPr>
              <a:t>一 </a:t>
            </a:r>
            <a:endParaRPr lang="en-US" altLang="zh-TW" sz="1200" dirty="0" smtClean="0">
              <a:solidFill>
                <a:srgbClr val="000000"/>
              </a:solidFill>
              <a:ea typeface="微軟正黑體" panose="020B0604030504040204" pitchFamily="34" charset="-120"/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85724" algn="l"/>
              </a:tabLst>
            </a:pPr>
            <a:r>
              <a:rPr lang="zh-TW" altLang="en-US" sz="1200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歐洲</a:t>
            </a:r>
            <a:r>
              <a:rPr lang="zh-TW" altLang="en-US" sz="1200" dirty="0">
                <a:solidFill>
                  <a:srgbClr val="000000"/>
                </a:solidFill>
                <a:ea typeface="微軟正黑體" panose="020B0604030504040204" pitchFamily="34" charset="-120"/>
              </a:rPr>
              <a:t>最大的不同類別生態和社會</a:t>
            </a:r>
            <a:r>
              <a:rPr lang="zh-TW" altLang="en-US" sz="1200" dirty="0" smtClean="0">
                <a:solidFill>
                  <a:srgbClr val="000000"/>
                </a:solidFill>
                <a:ea typeface="微軟正黑體" panose="020B0604030504040204" pitchFamily="34" charset="-120"/>
              </a:rPr>
              <a:t>承諾獎</a:t>
            </a:r>
            <a:endParaRPr lang="en-US" altLang="zh-CN" sz="1200" dirty="0">
              <a:solidFill>
                <a:srgbClr val="000000"/>
              </a:solidFill>
              <a:ea typeface="微軟正黑體" panose="020B0604030504040204" pitchFamily="34" charset="-120"/>
            </a:endParaRPr>
          </a:p>
        </p:txBody>
      </p:sp>
      <p:pic>
        <p:nvPicPr>
          <p:cNvPr id="23" name="Picture 4"/>
          <p:cNvPicPr>
            <a:picLocks noChangeAspect="1"/>
          </p:cNvPicPr>
          <p:nvPr/>
        </p:nvPicPr>
        <p:blipFill rotWithShape="1">
          <a:blip r:embed="rId3"/>
          <a:srcRect l="5837" t="10977" r="6148" b="10977"/>
          <a:stretch/>
        </p:blipFill>
        <p:spPr>
          <a:xfrm>
            <a:off x="232048" y="133043"/>
            <a:ext cx="992349" cy="629612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501065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3170</TotalTime>
  <Words>1100</Words>
  <Application>Microsoft Office PowerPoint</Application>
  <PresentationFormat>A4 紙張 (210x297 公釐)</PresentationFormat>
  <Paragraphs>87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7" baseType="lpstr">
      <vt:lpstr>宋体</vt:lpstr>
      <vt:lpstr>微軟正黑體</vt:lpstr>
      <vt:lpstr>新細明體</vt:lpstr>
      <vt:lpstr>標楷體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衛浴 春積</dc:creator>
  <cp:lastModifiedBy>衛浴 春積</cp:lastModifiedBy>
  <cp:revision>95</cp:revision>
  <cp:lastPrinted>2019-12-18T05:20:21Z</cp:lastPrinted>
  <dcterms:created xsi:type="dcterms:W3CDTF">2019-08-19T03:16:20Z</dcterms:created>
  <dcterms:modified xsi:type="dcterms:W3CDTF">2021-09-15T03:32:36Z</dcterms:modified>
</cp:coreProperties>
</file>