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93" r:id="rId2"/>
    <p:sldId id="258" r:id="rId3"/>
    <p:sldId id="285" r:id="rId4"/>
    <p:sldId id="282" r:id="rId5"/>
    <p:sldId id="283" r:id="rId6"/>
    <p:sldId id="294" r:id="rId7"/>
    <p:sldId id="273" r:id="rId8"/>
    <p:sldId id="305" r:id="rId9"/>
  </p:sldIdLst>
  <p:sldSz cx="9906000" cy="6858000" type="A4"/>
  <p:notesSz cx="7099300" cy="10234613"/>
  <p:defaultTextStyle>
    <a:defPPr>
      <a:defRPr lang="zh-TW"/>
    </a:defPPr>
    <a:lvl1pPr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61" autoAdjust="0"/>
    <p:restoredTop sz="94660"/>
  </p:normalViewPr>
  <p:slideViewPr>
    <p:cSldViewPr>
      <p:cViewPr varScale="1">
        <p:scale>
          <a:sx n="97" d="100"/>
          <a:sy n="97" d="100"/>
        </p:scale>
        <p:origin x="78" y="264"/>
      </p:cViewPr>
      <p:guideLst>
        <p:guide orient="horz" pos="2160"/>
        <p:guide pos="31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pPr>
              <a:defRPr/>
            </a:pPr>
            <a:endParaRPr lang="zh-TW" altLang="en-US"/>
          </a:p>
        </p:txBody>
      </p:sp>
      <p:sp>
        <p:nvSpPr>
          <p:cNvPr id="3" name="日期版面配置區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pPr>
              <a:defRPr/>
            </a:pPr>
            <a:fld id="{C5CBCB72-8250-4130-B62D-9064EE801D73}" type="datetimeFigureOut">
              <a:rPr lang="zh-TW" altLang="en-US"/>
              <a:pPr>
                <a:defRPr/>
              </a:pPr>
              <a:t>2021/9/15</a:t>
            </a:fld>
            <a:endParaRPr lang="zh-TW" altLang="en-US"/>
          </a:p>
        </p:txBody>
      </p:sp>
      <p:sp>
        <p:nvSpPr>
          <p:cNvPr id="4" name="頁尾版面配置區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pPr>
              <a:defRPr/>
            </a:pPr>
            <a:endParaRPr lang="zh-TW" altLang="en-US"/>
          </a:p>
        </p:txBody>
      </p:sp>
      <p:sp>
        <p:nvSpPr>
          <p:cNvPr id="5" name="投影片編號版面配置區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pPr>
              <a:defRPr/>
            </a:pPr>
            <a:fld id="{924B25A7-364D-4F8B-88B7-6AC4D9C5EEED}" type="slidenum">
              <a:rPr lang="zh-TW" altLang="en-US"/>
              <a:pPr>
                <a:defRPr/>
              </a:pPr>
              <a:t>‹#›</a:t>
            </a:fld>
            <a:endParaRPr lang="zh-TW" altLang="en-US"/>
          </a:p>
        </p:txBody>
      </p:sp>
    </p:spTree>
    <p:extLst>
      <p:ext uri="{BB962C8B-B14F-4D97-AF65-F5344CB8AC3E}">
        <p14:creationId xmlns:p14="http://schemas.microsoft.com/office/powerpoint/2010/main" val="1045810032"/>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4768" tIns="47384" rIns="94768" bIns="47384" numCol="1" anchor="t" anchorCtr="0" compatLnSpc="1">
            <a:prstTxWarp prst="textNoShape">
              <a:avLst/>
            </a:prstTxWarp>
          </a:bodyPr>
          <a:lstStyle>
            <a:lvl1pPr eaLnBrk="1" hangingPunct="1">
              <a:defRPr sz="1200">
                <a:latin typeface="Arial" charset="0"/>
                <a:ea typeface="微軟正黑體" panose="020B0604030504040204" pitchFamily="34" charset="-120"/>
              </a:defRPr>
            </a:lvl1pPr>
          </a:lstStyle>
          <a:p>
            <a:pPr>
              <a:defRPr/>
            </a:pPr>
            <a:endParaRPr lang="en-US" altLang="zh-TW"/>
          </a:p>
        </p:txBody>
      </p:sp>
      <p:sp>
        <p:nvSpPr>
          <p:cNvPr id="4099" name="Rectangle 3"/>
          <p:cNvSpPr>
            <a:spLocks noGrp="1" noChangeArrowheads="1"/>
          </p:cNvSpPr>
          <p:nvPr>
            <p:ph type="dt" idx="1"/>
          </p:nvPr>
        </p:nvSpPr>
        <p:spPr bwMode="auto">
          <a:xfrm>
            <a:off x="4021138" y="0"/>
            <a:ext cx="3076575" cy="512763"/>
          </a:xfrm>
          <a:prstGeom prst="rect">
            <a:avLst/>
          </a:prstGeom>
          <a:noFill/>
          <a:ln w="9525">
            <a:noFill/>
            <a:miter lim="800000"/>
            <a:headEnd/>
            <a:tailEnd/>
          </a:ln>
          <a:effectLst/>
        </p:spPr>
        <p:txBody>
          <a:bodyPr vert="horz" wrap="square" lIns="94768" tIns="47384" rIns="94768" bIns="47384" numCol="1" anchor="t" anchorCtr="0" compatLnSpc="1">
            <a:prstTxWarp prst="textNoShape">
              <a:avLst/>
            </a:prstTxWarp>
          </a:bodyPr>
          <a:lstStyle>
            <a:lvl1pPr algn="r" eaLnBrk="1" hangingPunct="1">
              <a:defRPr sz="1200">
                <a:latin typeface="Arial" charset="0"/>
                <a:ea typeface="微軟正黑體" panose="020B0604030504040204" pitchFamily="34" charset="-120"/>
              </a:defRPr>
            </a:lvl1pPr>
          </a:lstStyle>
          <a:p>
            <a:pPr>
              <a:defRPr/>
            </a:pPr>
            <a:endParaRPr lang="en-US" altLang="zh-TW"/>
          </a:p>
        </p:txBody>
      </p:sp>
      <p:sp>
        <p:nvSpPr>
          <p:cNvPr id="2052" name="Rectangle 4"/>
          <p:cNvSpPr>
            <a:spLocks noRot="1" noChangeArrowheads="1" noTextEdit="1"/>
          </p:cNvSpPr>
          <p:nvPr>
            <p:ph type="sldImg" idx="2"/>
          </p:nvPr>
        </p:nvSpPr>
        <p:spPr bwMode="auto">
          <a:xfrm>
            <a:off x="779463" y="768350"/>
            <a:ext cx="554037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4768" tIns="47384" rIns="94768" bIns="47384" numCol="1" anchor="t" anchorCtr="0" compatLnSpc="1">
            <a:prstTxWarp prst="textNoShape">
              <a:avLst/>
            </a:prstTxWarp>
          </a:bodyPr>
          <a:lstStyle/>
          <a:p>
            <a:pPr lvl="0"/>
            <a:r>
              <a:rPr lang="zh-TW" altLang="en-US" noProof="0" dirty="0" smtClean="0"/>
              <a:t>按一下以編輯母片</a:t>
            </a:r>
          </a:p>
          <a:p>
            <a:pPr lvl="1"/>
            <a:r>
              <a:rPr lang="zh-TW" altLang="en-US" noProof="0" dirty="0" smtClean="0"/>
              <a:t>第二層</a:t>
            </a:r>
          </a:p>
          <a:p>
            <a:pPr lvl="2"/>
            <a:r>
              <a:rPr lang="zh-TW" altLang="en-US" noProof="0" dirty="0" smtClean="0"/>
              <a:t>第三層</a:t>
            </a:r>
          </a:p>
          <a:p>
            <a:pPr lvl="3"/>
            <a:r>
              <a:rPr lang="zh-TW" altLang="en-US" noProof="0" dirty="0" smtClean="0"/>
              <a:t>第四層</a:t>
            </a:r>
          </a:p>
          <a:p>
            <a:pPr lvl="4"/>
            <a:r>
              <a:rPr lang="zh-TW" altLang="en-US" noProof="0" dirty="0" smtClean="0"/>
              <a:t>第五層</a:t>
            </a:r>
          </a:p>
        </p:txBody>
      </p:sp>
      <p:sp>
        <p:nvSpPr>
          <p:cNvPr id="4102" name="Rectangle 6"/>
          <p:cNvSpPr>
            <a:spLocks noGrp="1" noChangeArrowheads="1"/>
          </p:cNvSpPr>
          <p:nvPr>
            <p:ph type="ftr" sz="quarter" idx="4"/>
          </p:nvPr>
        </p:nvSpPr>
        <p:spPr bwMode="auto">
          <a:xfrm>
            <a:off x="0" y="9720263"/>
            <a:ext cx="3076575" cy="512762"/>
          </a:xfrm>
          <a:prstGeom prst="rect">
            <a:avLst/>
          </a:prstGeom>
          <a:noFill/>
          <a:ln w="9525">
            <a:noFill/>
            <a:miter lim="800000"/>
            <a:headEnd/>
            <a:tailEnd/>
          </a:ln>
          <a:effectLst/>
        </p:spPr>
        <p:txBody>
          <a:bodyPr vert="horz" wrap="square" lIns="94768" tIns="47384" rIns="94768" bIns="47384" numCol="1" anchor="b" anchorCtr="0" compatLnSpc="1">
            <a:prstTxWarp prst="textNoShape">
              <a:avLst/>
            </a:prstTxWarp>
          </a:bodyPr>
          <a:lstStyle>
            <a:lvl1pPr eaLnBrk="1" hangingPunct="1">
              <a:defRPr sz="1200">
                <a:latin typeface="Arial" charset="0"/>
                <a:ea typeface="微軟正黑體" panose="020B0604030504040204" pitchFamily="34" charset="-120"/>
              </a:defRPr>
            </a:lvl1pPr>
          </a:lstStyle>
          <a:p>
            <a:pPr>
              <a:defRPr/>
            </a:pPr>
            <a:endParaRPr lang="en-US" altLang="zh-TW"/>
          </a:p>
        </p:txBody>
      </p:sp>
      <p:sp>
        <p:nvSpPr>
          <p:cNvPr id="4103" name="Rectangle 7"/>
          <p:cNvSpPr>
            <a:spLocks noGrp="1" noChangeArrowheads="1"/>
          </p:cNvSpPr>
          <p:nvPr>
            <p:ph type="sldNum" sz="quarter" idx="5"/>
          </p:nvPr>
        </p:nvSpPr>
        <p:spPr bwMode="auto">
          <a:xfrm>
            <a:off x="4021138" y="9720263"/>
            <a:ext cx="3076575" cy="512762"/>
          </a:xfrm>
          <a:prstGeom prst="rect">
            <a:avLst/>
          </a:prstGeom>
          <a:noFill/>
          <a:ln w="9525">
            <a:noFill/>
            <a:miter lim="800000"/>
            <a:headEnd/>
            <a:tailEnd/>
          </a:ln>
          <a:effectLst/>
        </p:spPr>
        <p:txBody>
          <a:bodyPr vert="horz" wrap="square" lIns="94768" tIns="47384" rIns="94768" bIns="47384" numCol="1" anchor="b" anchorCtr="0" compatLnSpc="1">
            <a:prstTxWarp prst="textNoShape">
              <a:avLst/>
            </a:prstTxWarp>
          </a:bodyPr>
          <a:lstStyle>
            <a:lvl1pPr algn="r" eaLnBrk="1" hangingPunct="1">
              <a:defRPr sz="1200">
                <a:ea typeface="微軟正黑體" panose="020B0604030504040204" pitchFamily="34" charset="-120"/>
              </a:defRPr>
            </a:lvl1pPr>
          </a:lstStyle>
          <a:p>
            <a:pPr>
              <a:defRPr/>
            </a:pPr>
            <a:fld id="{07AAB28E-BBA1-42B3-8C1F-B92774E30492}" type="slidenum">
              <a:rPr lang="en-US" altLang="zh-TW"/>
              <a:pPr>
                <a:defRPr/>
              </a:pPr>
              <a:t>‹#›</a:t>
            </a:fld>
            <a:endParaRPr lang="en-US" altLang="zh-TW" dirty="0"/>
          </a:p>
        </p:txBody>
      </p:sp>
    </p:spTree>
    <p:extLst>
      <p:ext uri="{BB962C8B-B14F-4D97-AF65-F5344CB8AC3E}">
        <p14:creationId xmlns:p14="http://schemas.microsoft.com/office/powerpoint/2010/main" val="2980744426"/>
      </p:ext>
    </p:extLst>
  </p:cSld>
  <p:clrMap bg1="lt1" tx1="dk1" bg2="lt2" tx2="dk2" accent1="accent1" accent2="accent2" accent3="accent3" accent4="accent4" accent5="accent5" accent6="accent6" hlink="hlink" folHlink="folHlink"/>
  <p:hf sldNum="0" ftr="0" dt="0"/>
  <p:notesStyle>
    <a:lvl1pPr algn="l" rtl="0" eaLnBrk="0" fontAlgn="base" hangingPunct="0">
      <a:spcBef>
        <a:spcPct val="30000"/>
      </a:spcBef>
      <a:spcAft>
        <a:spcPct val="0"/>
      </a:spcAft>
      <a:defRPr kumimoji="1" sz="1200" kern="1200">
        <a:solidFill>
          <a:schemeClr val="tx1"/>
        </a:solidFill>
        <a:latin typeface="Arial" charset="0"/>
        <a:ea typeface="微軟正黑體" panose="020B0604030504040204" pitchFamily="34" charset="-120"/>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微軟正黑體" panose="020B0604030504040204" pitchFamily="34" charset="-120"/>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微軟正黑體" panose="020B0604030504040204" pitchFamily="34" charset="-120"/>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微軟正黑體" panose="020B0604030504040204" pitchFamily="34" charset="-120"/>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微軟正黑體" panose="020B0604030504040204" pitchFamily="34"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742950" y="2130426"/>
            <a:ext cx="84201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485900" y="3886200"/>
            <a:ext cx="6934200" cy="1752600"/>
          </a:xfrm>
        </p:spPr>
        <p:txBody>
          <a:bodyPr/>
          <a:lstStyle>
            <a:lvl1pPr marL="0" indent="0" algn="ctr">
              <a:buNone/>
              <a:defRPr/>
            </a:lvl1pPr>
            <a:lvl2pPr marL="495285" indent="0" algn="ctr">
              <a:buNone/>
              <a:defRPr/>
            </a:lvl2pPr>
            <a:lvl3pPr marL="990570" indent="0" algn="ctr">
              <a:buNone/>
              <a:defRPr/>
            </a:lvl3pPr>
            <a:lvl4pPr marL="1485854" indent="0" algn="ctr">
              <a:buNone/>
              <a:defRPr/>
            </a:lvl4pPr>
            <a:lvl5pPr marL="1981139" indent="0" algn="ctr">
              <a:buNone/>
              <a:defRPr/>
            </a:lvl5pPr>
            <a:lvl6pPr marL="2476424" indent="0" algn="ctr">
              <a:buNone/>
              <a:defRPr/>
            </a:lvl6pPr>
            <a:lvl7pPr marL="2971709" indent="0" algn="ctr">
              <a:buNone/>
              <a:defRPr/>
            </a:lvl7pPr>
            <a:lvl8pPr marL="3466993" indent="0" algn="ctr">
              <a:buNone/>
              <a:defRPr/>
            </a:lvl8pPr>
            <a:lvl9pPr marL="3962278" indent="0" algn="ctr">
              <a:buNone/>
              <a:defRPr/>
            </a:lvl9pPr>
          </a:lstStyle>
          <a:p>
            <a:r>
              <a:rPr lang="zh-TW" altLang="en-US" smtClean="0"/>
              <a:t>按一下以編輯母片副標題樣式</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DA87AE09-72D7-4784-AED2-A38CC1C8B070}" type="slidenum">
              <a:rPr lang="en-US" altLang="zh-TW"/>
              <a:pPr>
                <a:defRPr/>
              </a:pPr>
              <a:t>‹#›</a:t>
            </a:fld>
            <a:endParaRPr lang="en-US" altLang="zh-TW" dirty="0"/>
          </a:p>
        </p:txBody>
      </p:sp>
    </p:spTree>
    <p:extLst>
      <p:ext uri="{BB962C8B-B14F-4D97-AF65-F5344CB8AC3E}">
        <p14:creationId xmlns:p14="http://schemas.microsoft.com/office/powerpoint/2010/main" val="165856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86B3A5DC-B03B-49E8-B3C8-1E5B2F98F5DD}" type="slidenum">
              <a:rPr lang="en-US" altLang="zh-TW"/>
              <a:pPr>
                <a:defRPr/>
              </a:pPr>
              <a:t>‹#›</a:t>
            </a:fld>
            <a:endParaRPr lang="en-US" altLang="zh-TW" dirty="0"/>
          </a:p>
        </p:txBody>
      </p:sp>
    </p:spTree>
    <p:extLst>
      <p:ext uri="{BB962C8B-B14F-4D97-AF65-F5344CB8AC3E}">
        <p14:creationId xmlns:p14="http://schemas.microsoft.com/office/powerpoint/2010/main" val="4068782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82506" y="4406901"/>
            <a:ext cx="8420100" cy="1362075"/>
          </a:xfrm>
        </p:spPr>
        <p:txBody>
          <a:bodyPr anchor="t"/>
          <a:lstStyle>
            <a:lvl1pPr algn="l">
              <a:defRPr sz="4333"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82506" y="2906713"/>
            <a:ext cx="8420100" cy="1500187"/>
          </a:xfrm>
        </p:spPr>
        <p:txBody>
          <a:bodyPr anchor="b"/>
          <a:lstStyle>
            <a:lvl1pPr marL="0" indent="0">
              <a:buNone/>
              <a:defRPr sz="2167"/>
            </a:lvl1pPr>
            <a:lvl2pPr marL="495285" indent="0">
              <a:buNone/>
              <a:defRPr sz="1950"/>
            </a:lvl2pPr>
            <a:lvl3pPr marL="990570" indent="0">
              <a:buNone/>
              <a:defRPr sz="1733"/>
            </a:lvl3pPr>
            <a:lvl4pPr marL="1485854" indent="0">
              <a:buNone/>
              <a:defRPr sz="1517"/>
            </a:lvl4pPr>
            <a:lvl5pPr marL="1981139" indent="0">
              <a:buNone/>
              <a:defRPr sz="1517"/>
            </a:lvl5pPr>
            <a:lvl6pPr marL="2476424" indent="0">
              <a:buNone/>
              <a:defRPr sz="1517"/>
            </a:lvl6pPr>
            <a:lvl7pPr marL="2971709" indent="0">
              <a:buNone/>
              <a:defRPr sz="1517"/>
            </a:lvl7pPr>
            <a:lvl8pPr marL="3466993" indent="0">
              <a:buNone/>
              <a:defRPr sz="1517"/>
            </a:lvl8pPr>
            <a:lvl9pPr marL="3962278" indent="0">
              <a:buNone/>
              <a:defRPr sz="1517"/>
            </a:lvl9pPr>
          </a:lstStyle>
          <a:p>
            <a:pPr lvl="0"/>
            <a:r>
              <a:rPr lang="zh-TW" altLang="en-US" smtClean="0"/>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DAB651EB-5BF3-435E-B25B-E54188A4DD18}" type="slidenum">
              <a:rPr lang="en-US" altLang="zh-TW"/>
              <a:pPr>
                <a:defRPr/>
              </a:pPr>
              <a:t>‹#›</a:t>
            </a:fld>
            <a:endParaRPr lang="en-US" altLang="zh-TW" dirty="0"/>
          </a:p>
        </p:txBody>
      </p:sp>
    </p:spTree>
    <p:extLst>
      <p:ext uri="{BB962C8B-B14F-4D97-AF65-F5344CB8AC3E}">
        <p14:creationId xmlns:p14="http://schemas.microsoft.com/office/powerpoint/2010/main" val="1630582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95300" y="1600201"/>
            <a:ext cx="4375150" cy="4525963"/>
          </a:xfrm>
        </p:spPr>
        <p:txBody>
          <a:bodyPr/>
          <a:lstStyle>
            <a:lvl1pPr>
              <a:defRPr sz="3033"/>
            </a:lvl1pPr>
            <a:lvl2pPr>
              <a:defRPr sz="2600"/>
            </a:lvl2pPr>
            <a:lvl3pPr>
              <a:defRPr sz="2167"/>
            </a:lvl3pPr>
            <a:lvl4pPr>
              <a:defRPr sz="1950"/>
            </a:lvl4pPr>
            <a:lvl5pPr>
              <a:defRPr sz="1950"/>
            </a:lvl5pPr>
            <a:lvl6pPr>
              <a:defRPr sz="1950"/>
            </a:lvl6pPr>
            <a:lvl7pPr>
              <a:defRPr sz="1950"/>
            </a:lvl7pPr>
            <a:lvl8pPr>
              <a:defRPr sz="1950"/>
            </a:lvl8pPr>
            <a:lvl9pPr>
              <a:defRPr sz="19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5035550" y="1600201"/>
            <a:ext cx="4375150" cy="4525963"/>
          </a:xfrm>
        </p:spPr>
        <p:txBody>
          <a:bodyPr/>
          <a:lstStyle>
            <a:lvl1pPr>
              <a:defRPr sz="3033"/>
            </a:lvl1pPr>
            <a:lvl2pPr>
              <a:defRPr sz="2600"/>
            </a:lvl2pPr>
            <a:lvl3pPr>
              <a:defRPr sz="2167"/>
            </a:lvl3pPr>
            <a:lvl4pPr>
              <a:defRPr sz="1950"/>
            </a:lvl4pPr>
            <a:lvl5pPr>
              <a:defRPr sz="1950"/>
            </a:lvl5pPr>
            <a:lvl6pPr>
              <a:defRPr sz="1950"/>
            </a:lvl6pPr>
            <a:lvl7pPr>
              <a:defRPr sz="1950"/>
            </a:lvl7pPr>
            <a:lvl8pPr>
              <a:defRPr sz="1950"/>
            </a:lvl8pPr>
            <a:lvl9pPr>
              <a:defRPr sz="19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7799D86D-7EAE-4ED0-9F13-470889ACB564}" type="slidenum">
              <a:rPr lang="en-US" altLang="zh-TW"/>
              <a:pPr>
                <a:defRPr/>
              </a:pPr>
              <a:t>‹#›</a:t>
            </a:fld>
            <a:endParaRPr lang="en-US" altLang="zh-TW" dirty="0"/>
          </a:p>
        </p:txBody>
      </p:sp>
    </p:spTree>
    <p:extLst>
      <p:ext uri="{BB962C8B-B14F-4D97-AF65-F5344CB8AC3E}">
        <p14:creationId xmlns:p14="http://schemas.microsoft.com/office/powerpoint/2010/main" val="1303406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95300" y="1535113"/>
            <a:ext cx="4376870" cy="639762"/>
          </a:xfrm>
        </p:spPr>
        <p:txBody>
          <a:bodyPr anchor="b"/>
          <a:lstStyle>
            <a:lvl1pPr marL="0" indent="0">
              <a:buNone/>
              <a:defRPr sz="2600" b="1"/>
            </a:lvl1pPr>
            <a:lvl2pPr marL="495285" indent="0">
              <a:buNone/>
              <a:defRPr sz="2167" b="1"/>
            </a:lvl2pPr>
            <a:lvl3pPr marL="990570" indent="0">
              <a:buNone/>
              <a:defRPr sz="1950" b="1"/>
            </a:lvl3pPr>
            <a:lvl4pPr marL="1485854" indent="0">
              <a:buNone/>
              <a:defRPr sz="1733" b="1"/>
            </a:lvl4pPr>
            <a:lvl5pPr marL="1981139" indent="0">
              <a:buNone/>
              <a:defRPr sz="1733" b="1"/>
            </a:lvl5pPr>
            <a:lvl6pPr marL="2476424" indent="0">
              <a:buNone/>
              <a:defRPr sz="1733" b="1"/>
            </a:lvl6pPr>
            <a:lvl7pPr marL="2971709" indent="0">
              <a:buNone/>
              <a:defRPr sz="1733" b="1"/>
            </a:lvl7pPr>
            <a:lvl8pPr marL="3466993" indent="0">
              <a:buNone/>
              <a:defRPr sz="1733" b="1"/>
            </a:lvl8pPr>
            <a:lvl9pPr marL="3962278" indent="0">
              <a:buNone/>
              <a:defRPr sz="1733" b="1"/>
            </a:lvl9pPr>
          </a:lstStyle>
          <a:p>
            <a:pPr lvl="0"/>
            <a:r>
              <a:rPr lang="zh-TW" altLang="en-US" smtClean="0"/>
              <a:t>按一下以編輯母片文字樣式</a:t>
            </a:r>
          </a:p>
        </p:txBody>
      </p:sp>
      <p:sp>
        <p:nvSpPr>
          <p:cNvPr id="4" name="內容版面配置區 3"/>
          <p:cNvSpPr>
            <a:spLocks noGrp="1"/>
          </p:cNvSpPr>
          <p:nvPr>
            <p:ph sz="half" idx="2"/>
          </p:nvPr>
        </p:nvSpPr>
        <p:spPr>
          <a:xfrm>
            <a:off x="495300" y="2174875"/>
            <a:ext cx="4376870" cy="3951288"/>
          </a:xfrm>
        </p:spPr>
        <p:txBody>
          <a:bodyPr/>
          <a:lstStyle>
            <a:lvl1pPr>
              <a:defRPr sz="2600"/>
            </a:lvl1pPr>
            <a:lvl2pPr>
              <a:defRPr sz="2167"/>
            </a:lvl2pPr>
            <a:lvl3pPr>
              <a:defRPr sz="1950"/>
            </a:lvl3pPr>
            <a:lvl4pPr>
              <a:defRPr sz="1733"/>
            </a:lvl4pPr>
            <a:lvl5pPr>
              <a:defRPr sz="1733"/>
            </a:lvl5pPr>
            <a:lvl6pPr>
              <a:defRPr sz="1733"/>
            </a:lvl6pPr>
            <a:lvl7pPr>
              <a:defRPr sz="1733"/>
            </a:lvl7pPr>
            <a:lvl8pPr>
              <a:defRPr sz="1733"/>
            </a:lvl8pPr>
            <a:lvl9pPr>
              <a:defRPr sz="1733"/>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5032111" y="1535113"/>
            <a:ext cx="4378590" cy="639762"/>
          </a:xfrm>
        </p:spPr>
        <p:txBody>
          <a:bodyPr anchor="b"/>
          <a:lstStyle>
            <a:lvl1pPr marL="0" indent="0">
              <a:buNone/>
              <a:defRPr sz="2600" b="1"/>
            </a:lvl1pPr>
            <a:lvl2pPr marL="495285" indent="0">
              <a:buNone/>
              <a:defRPr sz="2167" b="1"/>
            </a:lvl2pPr>
            <a:lvl3pPr marL="990570" indent="0">
              <a:buNone/>
              <a:defRPr sz="1950" b="1"/>
            </a:lvl3pPr>
            <a:lvl4pPr marL="1485854" indent="0">
              <a:buNone/>
              <a:defRPr sz="1733" b="1"/>
            </a:lvl4pPr>
            <a:lvl5pPr marL="1981139" indent="0">
              <a:buNone/>
              <a:defRPr sz="1733" b="1"/>
            </a:lvl5pPr>
            <a:lvl6pPr marL="2476424" indent="0">
              <a:buNone/>
              <a:defRPr sz="1733" b="1"/>
            </a:lvl6pPr>
            <a:lvl7pPr marL="2971709" indent="0">
              <a:buNone/>
              <a:defRPr sz="1733" b="1"/>
            </a:lvl7pPr>
            <a:lvl8pPr marL="3466993" indent="0">
              <a:buNone/>
              <a:defRPr sz="1733" b="1"/>
            </a:lvl8pPr>
            <a:lvl9pPr marL="3962278" indent="0">
              <a:buNone/>
              <a:defRPr sz="1733" b="1"/>
            </a:lvl9pPr>
          </a:lstStyle>
          <a:p>
            <a:pPr lvl="0"/>
            <a:r>
              <a:rPr lang="zh-TW" altLang="en-US" smtClean="0"/>
              <a:t>按一下以編輯母片文字樣式</a:t>
            </a:r>
          </a:p>
        </p:txBody>
      </p:sp>
      <p:sp>
        <p:nvSpPr>
          <p:cNvPr id="6" name="內容版面配置區 5"/>
          <p:cNvSpPr>
            <a:spLocks noGrp="1"/>
          </p:cNvSpPr>
          <p:nvPr>
            <p:ph sz="quarter" idx="4"/>
          </p:nvPr>
        </p:nvSpPr>
        <p:spPr>
          <a:xfrm>
            <a:off x="5032111" y="2174875"/>
            <a:ext cx="4378590" cy="3951288"/>
          </a:xfrm>
        </p:spPr>
        <p:txBody>
          <a:bodyPr/>
          <a:lstStyle>
            <a:lvl1pPr>
              <a:defRPr sz="2600"/>
            </a:lvl1pPr>
            <a:lvl2pPr>
              <a:defRPr sz="2167"/>
            </a:lvl2pPr>
            <a:lvl3pPr>
              <a:defRPr sz="1950"/>
            </a:lvl3pPr>
            <a:lvl4pPr>
              <a:defRPr sz="1733"/>
            </a:lvl4pPr>
            <a:lvl5pPr>
              <a:defRPr sz="1733"/>
            </a:lvl5pPr>
            <a:lvl6pPr>
              <a:defRPr sz="1733"/>
            </a:lvl6pPr>
            <a:lvl7pPr>
              <a:defRPr sz="1733"/>
            </a:lvl7pPr>
            <a:lvl8pPr>
              <a:defRPr sz="1733"/>
            </a:lvl8pPr>
            <a:lvl9pPr>
              <a:defRPr sz="1733"/>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6"/>
          <p:cNvSpPr>
            <a:spLocks noGrp="1" noChangeArrowheads="1"/>
          </p:cNvSpPr>
          <p:nvPr>
            <p:ph type="sldNum" sz="quarter" idx="12"/>
          </p:nvPr>
        </p:nvSpPr>
        <p:spPr>
          <a:ln/>
        </p:spPr>
        <p:txBody>
          <a:bodyPr/>
          <a:lstStyle>
            <a:lvl1pPr>
              <a:defRPr/>
            </a:lvl1pPr>
          </a:lstStyle>
          <a:p>
            <a:pPr>
              <a:defRPr/>
            </a:pPr>
            <a:fld id="{06A68FAF-F361-425E-B377-AFED8EDBA8EA}" type="slidenum">
              <a:rPr lang="en-US" altLang="zh-TW"/>
              <a:pPr>
                <a:defRPr/>
              </a:pPr>
              <a:t>‹#›</a:t>
            </a:fld>
            <a:endParaRPr lang="en-US" altLang="zh-TW" dirty="0"/>
          </a:p>
        </p:txBody>
      </p:sp>
    </p:spTree>
    <p:extLst>
      <p:ext uri="{BB962C8B-B14F-4D97-AF65-F5344CB8AC3E}">
        <p14:creationId xmlns:p14="http://schemas.microsoft.com/office/powerpoint/2010/main" val="2325919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6"/>
          <p:cNvSpPr>
            <a:spLocks noGrp="1" noChangeArrowheads="1"/>
          </p:cNvSpPr>
          <p:nvPr>
            <p:ph type="sldNum" sz="quarter" idx="12"/>
          </p:nvPr>
        </p:nvSpPr>
        <p:spPr>
          <a:ln/>
        </p:spPr>
        <p:txBody>
          <a:bodyPr/>
          <a:lstStyle>
            <a:lvl1pPr>
              <a:defRPr/>
            </a:lvl1pPr>
          </a:lstStyle>
          <a:p>
            <a:pPr>
              <a:defRPr/>
            </a:pPr>
            <a:fld id="{98A6C1BA-6316-4B20-8266-24A4C9236AFA}" type="slidenum">
              <a:rPr lang="en-US" altLang="zh-TW"/>
              <a:pPr>
                <a:defRPr/>
              </a:pPr>
              <a:t>‹#›</a:t>
            </a:fld>
            <a:endParaRPr lang="en-US" altLang="zh-TW" dirty="0"/>
          </a:p>
        </p:txBody>
      </p:sp>
    </p:spTree>
    <p:extLst>
      <p:ext uri="{BB962C8B-B14F-4D97-AF65-F5344CB8AC3E}">
        <p14:creationId xmlns:p14="http://schemas.microsoft.com/office/powerpoint/2010/main" val="4022257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p:cNvSpPr>
            <a:spLocks noGrp="1" noChangeArrowheads="1"/>
          </p:cNvSpPr>
          <p:nvPr>
            <p:ph type="sldNum" sz="quarter" idx="12"/>
          </p:nvPr>
        </p:nvSpPr>
        <p:spPr>
          <a:ln/>
        </p:spPr>
        <p:txBody>
          <a:bodyPr/>
          <a:lstStyle>
            <a:lvl1pPr>
              <a:defRPr/>
            </a:lvl1pPr>
          </a:lstStyle>
          <a:p>
            <a:pPr>
              <a:defRPr/>
            </a:pPr>
            <a:fld id="{2850A554-2786-4A97-B02C-45F09239AA5E}" type="slidenum">
              <a:rPr lang="en-US" altLang="zh-TW"/>
              <a:pPr>
                <a:defRPr/>
              </a:pPr>
              <a:t>‹#›</a:t>
            </a:fld>
            <a:endParaRPr lang="en-US" altLang="zh-TW" dirty="0"/>
          </a:p>
        </p:txBody>
      </p:sp>
    </p:spTree>
    <p:extLst>
      <p:ext uri="{BB962C8B-B14F-4D97-AF65-F5344CB8AC3E}">
        <p14:creationId xmlns:p14="http://schemas.microsoft.com/office/powerpoint/2010/main" val="2395300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95300" y="273050"/>
            <a:ext cx="3259006" cy="1162050"/>
          </a:xfrm>
        </p:spPr>
        <p:txBody>
          <a:bodyPr anchor="b"/>
          <a:lstStyle>
            <a:lvl1pPr algn="l">
              <a:defRPr sz="2167"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872971" y="273051"/>
            <a:ext cx="5537729" cy="5853113"/>
          </a:xfrm>
        </p:spPr>
        <p:txBody>
          <a:bodyPr/>
          <a:lstStyle>
            <a:lvl1pPr>
              <a:defRPr sz="3467"/>
            </a:lvl1pPr>
            <a:lvl2pPr>
              <a:defRPr sz="3033"/>
            </a:lvl2pPr>
            <a:lvl3pPr>
              <a:defRPr sz="2600"/>
            </a:lvl3pPr>
            <a:lvl4pPr>
              <a:defRPr sz="2167"/>
            </a:lvl4pPr>
            <a:lvl5pPr>
              <a:defRPr sz="2167"/>
            </a:lvl5pPr>
            <a:lvl6pPr>
              <a:defRPr sz="2167"/>
            </a:lvl6pPr>
            <a:lvl7pPr>
              <a:defRPr sz="2167"/>
            </a:lvl7pPr>
            <a:lvl8pPr>
              <a:defRPr sz="2167"/>
            </a:lvl8pPr>
            <a:lvl9pPr>
              <a:defRPr sz="2167"/>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95300" y="1435101"/>
            <a:ext cx="3259006" cy="4691063"/>
          </a:xfrm>
        </p:spPr>
        <p:txBody>
          <a:bodyPr/>
          <a:lstStyle>
            <a:lvl1pPr marL="0" indent="0">
              <a:buNone/>
              <a:defRPr sz="1517"/>
            </a:lvl1pPr>
            <a:lvl2pPr marL="495285" indent="0">
              <a:buNone/>
              <a:defRPr sz="1300"/>
            </a:lvl2pPr>
            <a:lvl3pPr marL="990570" indent="0">
              <a:buNone/>
              <a:defRPr sz="1083"/>
            </a:lvl3pPr>
            <a:lvl4pPr marL="1485854" indent="0">
              <a:buNone/>
              <a:defRPr sz="975"/>
            </a:lvl4pPr>
            <a:lvl5pPr marL="1981139" indent="0">
              <a:buNone/>
              <a:defRPr sz="975"/>
            </a:lvl5pPr>
            <a:lvl6pPr marL="2476424" indent="0">
              <a:buNone/>
              <a:defRPr sz="975"/>
            </a:lvl6pPr>
            <a:lvl7pPr marL="2971709" indent="0">
              <a:buNone/>
              <a:defRPr sz="975"/>
            </a:lvl7pPr>
            <a:lvl8pPr marL="3466993" indent="0">
              <a:buNone/>
              <a:defRPr sz="975"/>
            </a:lvl8pPr>
            <a:lvl9pPr marL="3962278" indent="0">
              <a:buNone/>
              <a:defRPr sz="975"/>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C3761013-8D99-4211-8808-6CF1A2AA6543}" type="slidenum">
              <a:rPr lang="en-US" altLang="zh-TW"/>
              <a:pPr>
                <a:defRPr/>
              </a:pPr>
              <a:t>‹#›</a:t>
            </a:fld>
            <a:endParaRPr lang="en-US" altLang="zh-TW" dirty="0"/>
          </a:p>
        </p:txBody>
      </p:sp>
    </p:spTree>
    <p:extLst>
      <p:ext uri="{BB962C8B-B14F-4D97-AF65-F5344CB8AC3E}">
        <p14:creationId xmlns:p14="http://schemas.microsoft.com/office/powerpoint/2010/main" val="4025404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941645" y="4800600"/>
            <a:ext cx="5943600" cy="566738"/>
          </a:xfrm>
        </p:spPr>
        <p:txBody>
          <a:bodyPr anchor="b"/>
          <a:lstStyle>
            <a:lvl1pPr algn="l">
              <a:defRPr sz="2167"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941645" y="612775"/>
            <a:ext cx="5943600" cy="4114800"/>
          </a:xfrm>
        </p:spPr>
        <p:txBody>
          <a:bodyPr/>
          <a:lstStyle>
            <a:lvl1pPr marL="0" indent="0">
              <a:buNone/>
              <a:defRPr sz="3467"/>
            </a:lvl1pPr>
            <a:lvl2pPr marL="495285" indent="0">
              <a:buNone/>
              <a:defRPr sz="3033"/>
            </a:lvl2pPr>
            <a:lvl3pPr marL="990570" indent="0">
              <a:buNone/>
              <a:defRPr sz="2600"/>
            </a:lvl3pPr>
            <a:lvl4pPr marL="1485854" indent="0">
              <a:buNone/>
              <a:defRPr sz="2167"/>
            </a:lvl4pPr>
            <a:lvl5pPr marL="1981139" indent="0">
              <a:buNone/>
              <a:defRPr sz="2167"/>
            </a:lvl5pPr>
            <a:lvl6pPr marL="2476424" indent="0">
              <a:buNone/>
              <a:defRPr sz="2167"/>
            </a:lvl6pPr>
            <a:lvl7pPr marL="2971709" indent="0">
              <a:buNone/>
              <a:defRPr sz="2167"/>
            </a:lvl7pPr>
            <a:lvl8pPr marL="3466993" indent="0">
              <a:buNone/>
              <a:defRPr sz="2167"/>
            </a:lvl8pPr>
            <a:lvl9pPr marL="3962278" indent="0">
              <a:buNone/>
              <a:defRPr sz="2167"/>
            </a:lvl9pPr>
          </a:lstStyle>
          <a:p>
            <a:pPr lvl="0"/>
            <a:endParaRPr lang="zh-TW" altLang="en-US" noProof="0" smtClean="0"/>
          </a:p>
        </p:txBody>
      </p:sp>
      <p:sp>
        <p:nvSpPr>
          <p:cNvPr id="4" name="文字版面配置區 3"/>
          <p:cNvSpPr>
            <a:spLocks noGrp="1"/>
          </p:cNvSpPr>
          <p:nvPr>
            <p:ph type="body" sz="half" idx="2"/>
          </p:nvPr>
        </p:nvSpPr>
        <p:spPr>
          <a:xfrm>
            <a:off x="1941645" y="5367338"/>
            <a:ext cx="5943600" cy="804862"/>
          </a:xfrm>
        </p:spPr>
        <p:txBody>
          <a:bodyPr/>
          <a:lstStyle>
            <a:lvl1pPr marL="0" indent="0">
              <a:buNone/>
              <a:defRPr sz="1517"/>
            </a:lvl1pPr>
            <a:lvl2pPr marL="495285" indent="0">
              <a:buNone/>
              <a:defRPr sz="1300"/>
            </a:lvl2pPr>
            <a:lvl3pPr marL="990570" indent="0">
              <a:buNone/>
              <a:defRPr sz="1083"/>
            </a:lvl3pPr>
            <a:lvl4pPr marL="1485854" indent="0">
              <a:buNone/>
              <a:defRPr sz="975"/>
            </a:lvl4pPr>
            <a:lvl5pPr marL="1981139" indent="0">
              <a:buNone/>
              <a:defRPr sz="975"/>
            </a:lvl5pPr>
            <a:lvl6pPr marL="2476424" indent="0">
              <a:buNone/>
              <a:defRPr sz="975"/>
            </a:lvl6pPr>
            <a:lvl7pPr marL="2971709" indent="0">
              <a:buNone/>
              <a:defRPr sz="975"/>
            </a:lvl7pPr>
            <a:lvl8pPr marL="3466993" indent="0">
              <a:buNone/>
              <a:defRPr sz="975"/>
            </a:lvl8pPr>
            <a:lvl9pPr marL="3962278" indent="0">
              <a:buNone/>
              <a:defRPr sz="975"/>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6B99275C-0470-45DB-A4BF-3A9593286FA5}" type="slidenum">
              <a:rPr lang="en-US" altLang="zh-TW"/>
              <a:pPr>
                <a:defRPr/>
              </a:pPr>
              <a:t>‹#›</a:t>
            </a:fld>
            <a:endParaRPr lang="en-US" altLang="zh-TW" dirty="0"/>
          </a:p>
        </p:txBody>
      </p:sp>
    </p:spTree>
    <p:extLst>
      <p:ext uri="{BB962C8B-B14F-4D97-AF65-F5344CB8AC3E}">
        <p14:creationId xmlns:p14="http://schemas.microsoft.com/office/powerpoint/2010/main" val="1888115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D6C00928-5D78-47B7-A8A3-ECCF6F6A0333}" type="slidenum">
              <a:rPr lang="en-US" altLang="zh-TW"/>
              <a:pPr>
                <a:defRPr/>
              </a:pPr>
              <a:t>‹#›</a:t>
            </a:fld>
            <a:endParaRPr lang="en-US" altLang="zh-TW" dirty="0"/>
          </a:p>
        </p:txBody>
      </p:sp>
    </p:spTree>
    <p:extLst>
      <p:ext uri="{BB962C8B-B14F-4D97-AF65-F5344CB8AC3E}">
        <p14:creationId xmlns:p14="http://schemas.microsoft.com/office/powerpoint/2010/main" val="2607340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7181850" y="274639"/>
            <a:ext cx="222885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95300" y="274639"/>
            <a:ext cx="652145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3E032D4B-4F00-4D08-AFAC-9FBFCBD4B73F}" type="slidenum">
              <a:rPr lang="en-US" altLang="zh-TW"/>
              <a:pPr>
                <a:defRPr/>
              </a:pPr>
              <a:t>‹#›</a:t>
            </a:fld>
            <a:endParaRPr lang="en-US" altLang="zh-TW" dirty="0"/>
          </a:p>
        </p:txBody>
      </p:sp>
    </p:spTree>
    <p:extLst>
      <p:ext uri="{BB962C8B-B14F-4D97-AF65-F5344CB8AC3E}">
        <p14:creationId xmlns:p14="http://schemas.microsoft.com/office/powerpoint/2010/main" val="4003518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95300" y="274638"/>
            <a:ext cx="8915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Rectangle 3"/>
          <p:cNvSpPr>
            <a:spLocks noGrp="1" noChangeArrowheads="1"/>
          </p:cNvSpPr>
          <p:nvPr>
            <p:ph type="body" idx="1"/>
          </p:nvPr>
        </p:nvSpPr>
        <p:spPr bwMode="auto">
          <a:xfrm>
            <a:off x="495300" y="1600200"/>
            <a:ext cx="8915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28" name="Rectangle 4"/>
          <p:cNvSpPr>
            <a:spLocks noGrp="1" noChangeArrowheads="1"/>
          </p:cNvSpPr>
          <p:nvPr>
            <p:ph type="dt" sz="half" idx="2"/>
          </p:nvPr>
        </p:nvSpPr>
        <p:spPr bwMode="auto">
          <a:xfrm>
            <a:off x="495300" y="6245225"/>
            <a:ext cx="23114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517">
                <a:latin typeface="Arial" charset="0"/>
                <a:ea typeface="微軟正黑體" panose="020B0604030504040204" pitchFamily="34" charset="-120"/>
              </a:defRPr>
            </a:lvl1pPr>
          </a:lstStyle>
          <a:p>
            <a:pPr>
              <a:defRPr/>
            </a:pPr>
            <a:endParaRPr lang="en-US" altLang="zh-TW"/>
          </a:p>
        </p:txBody>
      </p:sp>
      <p:sp>
        <p:nvSpPr>
          <p:cNvPr id="1029" name="Rectangle 5"/>
          <p:cNvSpPr>
            <a:spLocks noGrp="1" noChangeArrowheads="1"/>
          </p:cNvSpPr>
          <p:nvPr>
            <p:ph type="ftr" sz="quarter" idx="3"/>
          </p:nvPr>
        </p:nvSpPr>
        <p:spPr bwMode="auto">
          <a:xfrm>
            <a:off x="3384550" y="6245225"/>
            <a:ext cx="31369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517">
                <a:latin typeface="Arial" charset="0"/>
                <a:ea typeface="微軟正黑體" panose="020B0604030504040204" pitchFamily="34" charset="-120"/>
              </a:defRPr>
            </a:lvl1pPr>
          </a:lstStyle>
          <a:p>
            <a:pPr>
              <a:defRPr/>
            </a:pPr>
            <a:endParaRPr lang="en-US" altLang="zh-TW"/>
          </a:p>
        </p:txBody>
      </p:sp>
      <p:sp>
        <p:nvSpPr>
          <p:cNvPr id="1030" name="Rectangle 6"/>
          <p:cNvSpPr>
            <a:spLocks noGrp="1" noChangeArrowheads="1"/>
          </p:cNvSpPr>
          <p:nvPr>
            <p:ph type="sldNum" sz="quarter" idx="4"/>
          </p:nvPr>
        </p:nvSpPr>
        <p:spPr bwMode="auto">
          <a:xfrm>
            <a:off x="7099300" y="6245225"/>
            <a:ext cx="23114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517">
                <a:ea typeface="微軟正黑體" panose="020B0604030504040204" pitchFamily="34" charset="-120"/>
              </a:defRPr>
            </a:lvl1pPr>
          </a:lstStyle>
          <a:p>
            <a:pPr>
              <a:defRPr/>
            </a:pPr>
            <a:fld id="{79E4DCAE-BB9B-499F-BF11-5120C2170750}" type="slidenum">
              <a:rPr lang="en-US" altLang="zh-TW"/>
              <a:pPr>
                <a:defRPr/>
              </a:pPr>
              <a:t>‹#›</a:t>
            </a:fld>
            <a:endParaRPr lang="en-US" altLang="zh-TW"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700">
          <a:solidFill>
            <a:schemeClr val="tx2"/>
          </a:solidFill>
          <a:latin typeface="+mj-lt"/>
          <a:ea typeface="微軟正黑體" panose="020B0604030504040204" pitchFamily="34" charset="-120"/>
          <a:cs typeface="+mj-cs"/>
        </a:defRPr>
      </a:lvl1pPr>
      <a:lvl2pPr algn="ctr" rtl="0" eaLnBrk="0" fontAlgn="base" hangingPunct="0">
        <a:spcBef>
          <a:spcPct val="0"/>
        </a:spcBef>
        <a:spcAft>
          <a:spcPct val="0"/>
        </a:spcAft>
        <a:defRPr kumimoji="1" sz="4700">
          <a:solidFill>
            <a:schemeClr val="tx2"/>
          </a:solidFill>
          <a:latin typeface="Arial" charset="0"/>
          <a:ea typeface="微軟正黑體" panose="020B0604030504040204" pitchFamily="34" charset="-120"/>
        </a:defRPr>
      </a:lvl2pPr>
      <a:lvl3pPr algn="ctr" rtl="0" eaLnBrk="0" fontAlgn="base" hangingPunct="0">
        <a:spcBef>
          <a:spcPct val="0"/>
        </a:spcBef>
        <a:spcAft>
          <a:spcPct val="0"/>
        </a:spcAft>
        <a:defRPr kumimoji="1" sz="4700">
          <a:solidFill>
            <a:schemeClr val="tx2"/>
          </a:solidFill>
          <a:latin typeface="Arial" charset="0"/>
          <a:ea typeface="微軟正黑體" panose="020B0604030504040204" pitchFamily="34" charset="-120"/>
        </a:defRPr>
      </a:lvl3pPr>
      <a:lvl4pPr algn="ctr" rtl="0" eaLnBrk="0" fontAlgn="base" hangingPunct="0">
        <a:spcBef>
          <a:spcPct val="0"/>
        </a:spcBef>
        <a:spcAft>
          <a:spcPct val="0"/>
        </a:spcAft>
        <a:defRPr kumimoji="1" sz="4700">
          <a:solidFill>
            <a:schemeClr val="tx2"/>
          </a:solidFill>
          <a:latin typeface="Arial" charset="0"/>
          <a:ea typeface="微軟正黑體" panose="020B0604030504040204" pitchFamily="34" charset="-120"/>
        </a:defRPr>
      </a:lvl4pPr>
      <a:lvl5pPr algn="ctr" rtl="0" eaLnBrk="0" fontAlgn="base" hangingPunct="0">
        <a:spcBef>
          <a:spcPct val="0"/>
        </a:spcBef>
        <a:spcAft>
          <a:spcPct val="0"/>
        </a:spcAft>
        <a:defRPr kumimoji="1" sz="4700">
          <a:solidFill>
            <a:schemeClr val="tx2"/>
          </a:solidFill>
          <a:latin typeface="Arial" charset="0"/>
          <a:ea typeface="微軟正黑體" panose="020B0604030504040204" pitchFamily="34" charset="-120"/>
        </a:defRPr>
      </a:lvl5pPr>
      <a:lvl6pPr marL="495285" algn="ctr" rtl="0" fontAlgn="base">
        <a:spcBef>
          <a:spcPct val="0"/>
        </a:spcBef>
        <a:spcAft>
          <a:spcPct val="0"/>
        </a:spcAft>
        <a:defRPr kumimoji="1" sz="4767">
          <a:solidFill>
            <a:schemeClr val="tx2"/>
          </a:solidFill>
          <a:latin typeface="Arial" charset="0"/>
          <a:ea typeface="新細明體" pitchFamily="18" charset="-120"/>
        </a:defRPr>
      </a:lvl6pPr>
      <a:lvl7pPr marL="990570" algn="ctr" rtl="0" fontAlgn="base">
        <a:spcBef>
          <a:spcPct val="0"/>
        </a:spcBef>
        <a:spcAft>
          <a:spcPct val="0"/>
        </a:spcAft>
        <a:defRPr kumimoji="1" sz="4767">
          <a:solidFill>
            <a:schemeClr val="tx2"/>
          </a:solidFill>
          <a:latin typeface="Arial" charset="0"/>
          <a:ea typeface="新細明體" pitchFamily="18" charset="-120"/>
        </a:defRPr>
      </a:lvl7pPr>
      <a:lvl8pPr marL="1485854" algn="ctr" rtl="0" fontAlgn="base">
        <a:spcBef>
          <a:spcPct val="0"/>
        </a:spcBef>
        <a:spcAft>
          <a:spcPct val="0"/>
        </a:spcAft>
        <a:defRPr kumimoji="1" sz="4767">
          <a:solidFill>
            <a:schemeClr val="tx2"/>
          </a:solidFill>
          <a:latin typeface="Arial" charset="0"/>
          <a:ea typeface="新細明體" pitchFamily="18" charset="-120"/>
        </a:defRPr>
      </a:lvl8pPr>
      <a:lvl9pPr marL="1981139" algn="ctr" rtl="0" fontAlgn="base">
        <a:spcBef>
          <a:spcPct val="0"/>
        </a:spcBef>
        <a:spcAft>
          <a:spcPct val="0"/>
        </a:spcAft>
        <a:defRPr kumimoji="1" sz="4767">
          <a:solidFill>
            <a:schemeClr val="tx2"/>
          </a:solidFill>
          <a:latin typeface="Arial" charset="0"/>
          <a:ea typeface="新細明體" pitchFamily="18" charset="-120"/>
        </a:defRPr>
      </a:lvl9pPr>
    </p:titleStyle>
    <p:bodyStyle>
      <a:lvl1pPr marL="369888" indent="-369888" algn="l" rtl="0" eaLnBrk="0" fontAlgn="base" hangingPunct="0">
        <a:spcBef>
          <a:spcPct val="20000"/>
        </a:spcBef>
        <a:spcAft>
          <a:spcPct val="0"/>
        </a:spcAft>
        <a:buChar char="•"/>
        <a:defRPr kumimoji="1" sz="3400">
          <a:solidFill>
            <a:schemeClr val="tx1"/>
          </a:solidFill>
          <a:latin typeface="+mn-lt"/>
          <a:ea typeface="微軟正黑體" panose="020B0604030504040204" pitchFamily="34" charset="-120"/>
          <a:cs typeface="+mn-cs"/>
        </a:defRPr>
      </a:lvl1pPr>
      <a:lvl2pPr marL="803275" indent="-307975" algn="l" rtl="0" eaLnBrk="0" fontAlgn="base" hangingPunct="0">
        <a:spcBef>
          <a:spcPct val="20000"/>
        </a:spcBef>
        <a:spcAft>
          <a:spcPct val="0"/>
        </a:spcAft>
        <a:buChar char="–"/>
        <a:defRPr kumimoji="1" sz="3000">
          <a:solidFill>
            <a:schemeClr val="tx1"/>
          </a:solidFill>
          <a:latin typeface="+mn-lt"/>
          <a:ea typeface="微軟正黑體" panose="020B0604030504040204" pitchFamily="34" charset="-120"/>
        </a:defRPr>
      </a:lvl2pPr>
      <a:lvl3pPr marL="1236663" indent="-246063" algn="l" rtl="0" eaLnBrk="0" fontAlgn="base" hangingPunct="0">
        <a:spcBef>
          <a:spcPct val="20000"/>
        </a:spcBef>
        <a:spcAft>
          <a:spcPct val="0"/>
        </a:spcAft>
        <a:buChar char="•"/>
        <a:defRPr kumimoji="1" sz="2600">
          <a:solidFill>
            <a:schemeClr val="tx1"/>
          </a:solidFill>
          <a:latin typeface="+mn-lt"/>
          <a:ea typeface="微軟正黑體" panose="020B0604030504040204" pitchFamily="34" charset="-120"/>
        </a:defRPr>
      </a:lvl3pPr>
      <a:lvl4pPr marL="1731963" indent="-246063" algn="l" rtl="0" eaLnBrk="0" fontAlgn="base" hangingPunct="0">
        <a:spcBef>
          <a:spcPct val="20000"/>
        </a:spcBef>
        <a:spcAft>
          <a:spcPct val="0"/>
        </a:spcAft>
        <a:buChar char="–"/>
        <a:defRPr kumimoji="1" sz="2100">
          <a:solidFill>
            <a:schemeClr val="tx1"/>
          </a:solidFill>
          <a:latin typeface="+mn-lt"/>
          <a:ea typeface="微軟正黑體" panose="020B0604030504040204" pitchFamily="34" charset="-120"/>
        </a:defRPr>
      </a:lvl4pPr>
      <a:lvl5pPr marL="2227263" indent="-246063" algn="l" rtl="0" eaLnBrk="0" fontAlgn="base" hangingPunct="0">
        <a:spcBef>
          <a:spcPct val="20000"/>
        </a:spcBef>
        <a:spcAft>
          <a:spcPct val="0"/>
        </a:spcAft>
        <a:buChar char="»"/>
        <a:defRPr kumimoji="1" sz="2100">
          <a:solidFill>
            <a:schemeClr val="tx1"/>
          </a:solidFill>
          <a:latin typeface="+mn-lt"/>
          <a:ea typeface="微軟正黑體" panose="020B0604030504040204" pitchFamily="34" charset="-120"/>
        </a:defRPr>
      </a:lvl5pPr>
      <a:lvl6pPr marL="2724066" indent="-247642" algn="l" rtl="0" fontAlgn="base">
        <a:spcBef>
          <a:spcPct val="20000"/>
        </a:spcBef>
        <a:spcAft>
          <a:spcPct val="0"/>
        </a:spcAft>
        <a:buChar char="»"/>
        <a:defRPr kumimoji="1" sz="2167">
          <a:solidFill>
            <a:schemeClr val="tx1"/>
          </a:solidFill>
          <a:latin typeface="+mn-lt"/>
          <a:ea typeface="+mn-ea"/>
        </a:defRPr>
      </a:lvl6pPr>
      <a:lvl7pPr marL="3219351" indent="-247642" algn="l" rtl="0" fontAlgn="base">
        <a:spcBef>
          <a:spcPct val="20000"/>
        </a:spcBef>
        <a:spcAft>
          <a:spcPct val="0"/>
        </a:spcAft>
        <a:buChar char="»"/>
        <a:defRPr kumimoji="1" sz="2167">
          <a:solidFill>
            <a:schemeClr val="tx1"/>
          </a:solidFill>
          <a:latin typeface="+mn-lt"/>
          <a:ea typeface="+mn-ea"/>
        </a:defRPr>
      </a:lvl7pPr>
      <a:lvl8pPr marL="3714636" indent="-247642" algn="l" rtl="0" fontAlgn="base">
        <a:spcBef>
          <a:spcPct val="20000"/>
        </a:spcBef>
        <a:spcAft>
          <a:spcPct val="0"/>
        </a:spcAft>
        <a:buChar char="»"/>
        <a:defRPr kumimoji="1" sz="2167">
          <a:solidFill>
            <a:schemeClr val="tx1"/>
          </a:solidFill>
          <a:latin typeface="+mn-lt"/>
          <a:ea typeface="+mn-ea"/>
        </a:defRPr>
      </a:lvl8pPr>
      <a:lvl9pPr marL="4209920" indent="-247642" algn="l" rtl="0" fontAlgn="base">
        <a:spcBef>
          <a:spcPct val="20000"/>
        </a:spcBef>
        <a:spcAft>
          <a:spcPct val="0"/>
        </a:spcAft>
        <a:buChar char="»"/>
        <a:defRPr kumimoji="1" sz="2167">
          <a:solidFill>
            <a:schemeClr val="tx1"/>
          </a:solidFill>
          <a:latin typeface="+mn-lt"/>
          <a:ea typeface="+mn-ea"/>
        </a:defRPr>
      </a:lvl9pPr>
    </p:bodyStyle>
    <p:otherStyle>
      <a:defPPr>
        <a:defRPr lang="zh-TW"/>
      </a:defPPr>
      <a:lvl1pPr marL="0" algn="l" defTabSz="990570" rtl="0" eaLnBrk="1" latinLnBrk="0" hangingPunct="1">
        <a:defRPr sz="1950" kern="1200">
          <a:solidFill>
            <a:schemeClr val="tx1"/>
          </a:solidFill>
          <a:latin typeface="+mn-lt"/>
          <a:ea typeface="+mn-ea"/>
          <a:cs typeface="+mn-cs"/>
        </a:defRPr>
      </a:lvl1pPr>
      <a:lvl2pPr marL="495285" algn="l" defTabSz="990570" rtl="0" eaLnBrk="1" latinLnBrk="0" hangingPunct="1">
        <a:defRPr sz="1950" kern="1200">
          <a:solidFill>
            <a:schemeClr val="tx1"/>
          </a:solidFill>
          <a:latin typeface="+mn-lt"/>
          <a:ea typeface="+mn-ea"/>
          <a:cs typeface="+mn-cs"/>
        </a:defRPr>
      </a:lvl2pPr>
      <a:lvl3pPr marL="990570" algn="l" defTabSz="990570" rtl="0" eaLnBrk="1" latinLnBrk="0" hangingPunct="1">
        <a:defRPr sz="1950" kern="1200">
          <a:solidFill>
            <a:schemeClr val="tx1"/>
          </a:solidFill>
          <a:latin typeface="+mn-lt"/>
          <a:ea typeface="+mn-ea"/>
          <a:cs typeface="+mn-cs"/>
        </a:defRPr>
      </a:lvl3pPr>
      <a:lvl4pPr marL="1485854" algn="l" defTabSz="990570" rtl="0" eaLnBrk="1" latinLnBrk="0" hangingPunct="1">
        <a:defRPr sz="1950" kern="1200">
          <a:solidFill>
            <a:schemeClr val="tx1"/>
          </a:solidFill>
          <a:latin typeface="+mn-lt"/>
          <a:ea typeface="+mn-ea"/>
          <a:cs typeface="+mn-cs"/>
        </a:defRPr>
      </a:lvl4pPr>
      <a:lvl5pPr marL="1981139" algn="l" defTabSz="990570" rtl="0" eaLnBrk="1" latinLnBrk="0" hangingPunct="1">
        <a:defRPr sz="1950" kern="1200">
          <a:solidFill>
            <a:schemeClr val="tx1"/>
          </a:solidFill>
          <a:latin typeface="+mn-lt"/>
          <a:ea typeface="+mn-ea"/>
          <a:cs typeface="+mn-cs"/>
        </a:defRPr>
      </a:lvl5pPr>
      <a:lvl6pPr marL="2476424" algn="l" defTabSz="990570" rtl="0" eaLnBrk="1" latinLnBrk="0" hangingPunct="1">
        <a:defRPr sz="1950" kern="1200">
          <a:solidFill>
            <a:schemeClr val="tx1"/>
          </a:solidFill>
          <a:latin typeface="+mn-lt"/>
          <a:ea typeface="+mn-ea"/>
          <a:cs typeface="+mn-cs"/>
        </a:defRPr>
      </a:lvl6pPr>
      <a:lvl7pPr marL="2971709" algn="l" defTabSz="990570" rtl="0" eaLnBrk="1" latinLnBrk="0" hangingPunct="1">
        <a:defRPr sz="1950" kern="1200">
          <a:solidFill>
            <a:schemeClr val="tx1"/>
          </a:solidFill>
          <a:latin typeface="+mn-lt"/>
          <a:ea typeface="+mn-ea"/>
          <a:cs typeface="+mn-cs"/>
        </a:defRPr>
      </a:lvl7pPr>
      <a:lvl8pPr marL="3466993" algn="l" defTabSz="990570" rtl="0" eaLnBrk="1" latinLnBrk="0" hangingPunct="1">
        <a:defRPr sz="1950" kern="1200">
          <a:solidFill>
            <a:schemeClr val="tx1"/>
          </a:solidFill>
          <a:latin typeface="+mn-lt"/>
          <a:ea typeface="+mn-ea"/>
          <a:cs typeface="+mn-cs"/>
        </a:defRPr>
      </a:lvl8pPr>
      <a:lvl9pPr marL="3962278" algn="l" defTabSz="990570" rtl="0" eaLnBrk="1" latinLnBrk="0" hangingPunct="1">
        <a:defRPr sz="19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6.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8.jpe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jpeg"/></Relationships>
</file>

<file path=ppt/slides/_rels/slide4.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6.png"/><Relationship Id="rId4" Type="http://schemas.openxmlformats.org/officeDocument/2006/relationships/image" Target="../media/image25.emf"/></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emf"/><Relationship Id="rId5" Type="http://schemas.openxmlformats.org/officeDocument/2006/relationships/image" Target="../media/image29.jpeg"/><Relationship Id="rId4" Type="http://schemas.openxmlformats.org/officeDocument/2006/relationships/image" Target="../media/image28.wmf"/></Relationships>
</file>

<file path=ppt/slides/_rels/slide7.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image" Target="../media/image33.jpeg"/><Relationship Id="rId7" Type="http://schemas.openxmlformats.org/officeDocument/2006/relationships/image" Target="../media/image36.jpeg"/><Relationship Id="rId2" Type="http://schemas.openxmlformats.org/officeDocument/2006/relationships/image" Target="../media/image32.jpeg"/><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image" Target="../media/image34.jpeg"/><Relationship Id="rId10" Type="http://schemas.openxmlformats.org/officeDocument/2006/relationships/image" Target="../media/image39.jpeg"/><Relationship Id="rId4" Type="http://schemas.openxmlformats.org/officeDocument/2006/relationships/image" Target="../media/image6.png"/><Relationship Id="rId9" Type="http://schemas.openxmlformats.org/officeDocument/2006/relationships/image" Target="../media/image38.jpeg"/></Relationships>
</file>

<file path=ppt/slides/_rels/slide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4488" y="1700213"/>
            <a:ext cx="16446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4"/>
          <p:cNvPicPr>
            <a:picLocks noChangeAspect="1" noChangeArrowheads="1"/>
          </p:cNvPicPr>
          <p:nvPr/>
        </p:nvPicPr>
        <p:blipFill>
          <a:blip r:embed="rId3" cstate="print"/>
          <a:srcRect t="29566" b="8346"/>
          <a:stretch>
            <a:fillRect/>
          </a:stretch>
        </p:blipFill>
        <p:spPr bwMode="auto">
          <a:xfrm>
            <a:off x="211900" y="200403"/>
            <a:ext cx="9482196" cy="1200498"/>
          </a:xfrm>
          <a:prstGeom prst="rect">
            <a:avLst/>
          </a:prstGeom>
          <a:noFill/>
          <a:ln w="9525">
            <a:noFill/>
            <a:miter lim="800000"/>
            <a:headEnd/>
            <a:tailEnd/>
          </a:ln>
          <a:effectLst>
            <a:reflection blurRad="6350" stA="50000" endA="300" endPos="55000" dir="5400000" sy="-100000" algn="bl" rotWithShape="0"/>
          </a:effectLst>
        </p:spPr>
      </p:pic>
      <p:sp>
        <p:nvSpPr>
          <p:cNvPr id="4100" name="Text Box 5"/>
          <p:cNvSpPr txBox="1">
            <a:spLocks noChangeArrowheads="1"/>
          </p:cNvSpPr>
          <p:nvPr/>
        </p:nvSpPr>
        <p:spPr bwMode="auto">
          <a:xfrm>
            <a:off x="1989138" y="1930400"/>
            <a:ext cx="22320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07" tIns="45705" rIns="91407" bIns="45705">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spcBef>
                <a:spcPct val="50000"/>
              </a:spcBef>
            </a:pPr>
            <a:r>
              <a:rPr lang="zh-TW" altLang="en-US" sz="1200">
                <a:latin typeface="Calibri" panose="020F0502020204030204" pitchFamily="34" charset="0"/>
                <a:ea typeface="微軟正黑體" panose="020B0604030504040204" pitchFamily="34" charset="-120"/>
              </a:rPr>
              <a:t>瑞士國寶衛浴品牌</a:t>
            </a:r>
            <a:endParaRPr lang="en-US" altLang="zh-TW" sz="1200">
              <a:latin typeface="Calibri" panose="020F0502020204030204" pitchFamily="34" charset="0"/>
              <a:ea typeface="微軟正黑體" panose="020B0604030504040204" pitchFamily="34" charset="-120"/>
            </a:endParaRPr>
          </a:p>
        </p:txBody>
      </p:sp>
      <p:sp>
        <p:nvSpPr>
          <p:cNvPr id="4101" name="Rectangle 8"/>
          <p:cNvSpPr>
            <a:spLocks noChangeArrowheads="1"/>
          </p:cNvSpPr>
          <p:nvPr/>
        </p:nvSpPr>
        <p:spPr bwMode="auto">
          <a:xfrm>
            <a:off x="488950" y="2579688"/>
            <a:ext cx="4791075" cy="307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nSpc>
                <a:spcPct val="140000"/>
              </a:lnSpc>
            </a:pPr>
            <a:r>
              <a:rPr lang="en-US" altLang="zh-TW" sz="1600" b="1">
                <a:latin typeface="Calibri" panose="020F0502020204030204" pitchFamily="34" charset="0"/>
                <a:ea typeface="微軟正黑體" panose="020B0604030504040204" pitchFamily="34" charset="-120"/>
              </a:rPr>
              <a:t>LAUFEN </a:t>
            </a:r>
            <a:r>
              <a:rPr lang="zh-TW" altLang="en-US" sz="1600" b="1">
                <a:latin typeface="Calibri" panose="020F0502020204030204" pitchFamily="34" charset="0"/>
                <a:ea typeface="微軟正黑體" panose="020B0604030504040204" pitchFamily="34" charset="-120"/>
              </a:rPr>
              <a:t>的品牌地位</a:t>
            </a:r>
          </a:p>
          <a:p>
            <a:pPr>
              <a:lnSpc>
                <a:spcPct val="130000"/>
              </a:lnSpc>
            </a:pPr>
            <a:r>
              <a:rPr lang="zh-TW" altLang="en-US" sz="1200">
                <a:latin typeface="Calibri" panose="020F0502020204030204" pitchFamily="34" charset="0"/>
                <a:ea typeface="微軟正黑體" panose="020B0604030504040204" pitchFamily="34" charset="-120"/>
              </a:rPr>
              <a:t>        歐洲是世界上生活水準最高的地區，傳統奢侈、豪華的生活用品都出自歐洲，而瑞士是世界富豪的聚集地，也是著名的旅遊勝地，瑞士有世界上最好的住宅和酒店，而在瑞士</a:t>
            </a:r>
            <a:r>
              <a:rPr lang="en-US" altLang="zh-TW" sz="1200">
                <a:latin typeface="Calibri" panose="020F0502020204030204" pitchFamily="34" charset="0"/>
                <a:ea typeface="微軟正黑體" panose="020B0604030504040204" pitchFamily="34" charset="-120"/>
              </a:rPr>
              <a:t>LAUFEN</a:t>
            </a:r>
            <a:r>
              <a:rPr lang="zh-TW" altLang="en-US" sz="1200">
                <a:latin typeface="Calibri" panose="020F0502020204030204" pitchFamily="34" charset="0"/>
                <a:ea typeface="微軟正黑體" panose="020B0604030504040204" pitchFamily="34" charset="-120"/>
              </a:rPr>
              <a:t>衛浴設備的市場佔有率超過</a:t>
            </a:r>
            <a:r>
              <a:rPr lang="en-US" altLang="zh-TW" sz="1200">
                <a:latin typeface="Calibri" panose="020F0502020204030204" pitchFamily="34" charset="0"/>
                <a:ea typeface="微軟正黑體" panose="020B0604030504040204" pitchFamily="34" charset="-120"/>
              </a:rPr>
              <a:t>80%</a:t>
            </a:r>
            <a:r>
              <a:rPr lang="zh-TW" altLang="en-US" sz="1200">
                <a:latin typeface="Calibri" panose="020F0502020204030204" pitchFamily="34" charset="0"/>
                <a:ea typeface="微軟正黑體" panose="020B0604030504040204" pitchFamily="34" charset="-120"/>
              </a:rPr>
              <a:t>。在奧地利</a:t>
            </a:r>
            <a:r>
              <a:rPr lang="en-US" altLang="zh-TW" sz="1200">
                <a:latin typeface="Calibri" panose="020F0502020204030204" pitchFamily="34" charset="0"/>
                <a:ea typeface="微軟正黑體" panose="020B0604030504040204" pitchFamily="34" charset="-120"/>
              </a:rPr>
              <a:t>LAUFEN</a:t>
            </a:r>
            <a:r>
              <a:rPr lang="zh-TW" altLang="en-US" sz="1200">
                <a:latin typeface="Calibri" panose="020F0502020204030204" pitchFamily="34" charset="0"/>
                <a:ea typeface="微軟正黑體" panose="020B0604030504040204" pitchFamily="34" charset="-120"/>
              </a:rPr>
              <a:t>衛浴設備的佔有率也超過</a:t>
            </a:r>
            <a:r>
              <a:rPr lang="en-US" altLang="zh-TW" sz="1200">
                <a:latin typeface="Calibri" panose="020F0502020204030204" pitchFamily="34" charset="0"/>
                <a:ea typeface="微軟正黑體" panose="020B0604030504040204" pitchFamily="34" charset="-120"/>
              </a:rPr>
              <a:t>70%</a:t>
            </a:r>
            <a:r>
              <a:rPr lang="zh-TW" altLang="en-US" sz="1200">
                <a:latin typeface="Calibri" panose="020F0502020204030204" pitchFamily="34" charset="0"/>
                <a:ea typeface="微軟正黑體" panose="020B0604030504040204" pitchFamily="34" charset="-120"/>
              </a:rPr>
              <a:t>。在歐洲其他國家</a:t>
            </a:r>
            <a:r>
              <a:rPr lang="en-US" altLang="zh-TW" sz="1200">
                <a:latin typeface="Calibri" panose="020F0502020204030204" pitchFamily="34" charset="0"/>
                <a:ea typeface="微軟正黑體" panose="020B0604030504040204" pitchFamily="34" charset="-120"/>
              </a:rPr>
              <a:t>LAUFEN</a:t>
            </a:r>
            <a:r>
              <a:rPr lang="zh-TW" altLang="en-US" sz="1200">
                <a:latin typeface="Calibri" panose="020F0502020204030204" pitchFamily="34" charset="0"/>
                <a:ea typeface="微軟正黑體" panose="020B0604030504040204" pitchFamily="34" charset="-120"/>
              </a:rPr>
              <a:t>衛浴設備也是家喻戶曉，是許多高級住宅和酒店的首選產品。</a:t>
            </a:r>
          </a:p>
          <a:p>
            <a:pPr>
              <a:lnSpc>
                <a:spcPct val="130000"/>
              </a:lnSpc>
            </a:pPr>
            <a:r>
              <a:rPr lang="zh-TW" altLang="en-US" sz="1200">
                <a:latin typeface="Calibri" panose="020F0502020204030204" pitchFamily="34" charset="0"/>
                <a:ea typeface="微軟正黑體" panose="020B0604030504040204" pitchFamily="34" charset="-120"/>
              </a:rPr>
              <a:t>        </a:t>
            </a:r>
            <a:r>
              <a:rPr lang="en-US" altLang="zh-TW" sz="1200">
                <a:latin typeface="Calibri" panose="020F0502020204030204" pitchFamily="34" charset="0"/>
                <a:ea typeface="微軟正黑體" panose="020B0604030504040204" pitchFamily="34" charset="-120"/>
              </a:rPr>
              <a:t>LAUFEN</a:t>
            </a:r>
            <a:r>
              <a:rPr lang="zh-TW" altLang="en-US" sz="1200">
                <a:latin typeface="Calibri" panose="020F0502020204030204" pitchFamily="34" charset="0"/>
                <a:ea typeface="微軟正黑體" panose="020B0604030504040204" pitchFamily="34" charset="-120"/>
              </a:rPr>
              <a:t>自</a:t>
            </a:r>
            <a:r>
              <a:rPr lang="en-US" altLang="zh-TW" sz="1200">
                <a:latin typeface="Calibri" panose="020F0502020204030204" pitchFamily="34" charset="0"/>
                <a:ea typeface="微軟正黑體" panose="020B0604030504040204" pitchFamily="34" charset="-120"/>
              </a:rPr>
              <a:t>1892</a:t>
            </a:r>
            <a:r>
              <a:rPr lang="zh-TW" altLang="en-US" sz="1200">
                <a:latin typeface="Calibri" panose="020F0502020204030204" pitchFamily="34" charset="0"/>
                <a:ea typeface="微軟正黑體" panose="020B0604030504040204" pitchFamily="34" charset="-120"/>
              </a:rPr>
              <a:t>年至今已有百餘年的歷史，產品風格因受瑞士多民族風格影響，產品表現不同於德國的粗曠，展現的是奧地利日爾曼細緻文化藝術，</a:t>
            </a:r>
            <a:r>
              <a:rPr lang="en-US" altLang="zh-TW" sz="1200">
                <a:latin typeface="Calibri" panose="020F0502020204030204" pitchFamily="34" charset="0"/>
                <a:ea typeface="微軟正黑體" panose="020B0604030504040204" pitchFamily="34" charset="-120"/>
              </a:rPr>
              <a:t>LAUFEN</a:t>
            </a:r>
            <a:r>
              <a:rPr lang="zh-TW" altLang="en-US" sz="1200">
                <a:latin typeface="Calibri" panose="020F0502020204030204" pitchFamily="34" charset="0"/>
                <a:ea typeface="微軟正黑體" panose="020B0604030504040204" pitchFamily="34" charset="-120"/>
              </a:rPr>
              <a:t>百年來對品質的堅持及在產品設計上不斷的創新，無論從生產技術、品質控制還是工業造型設計，</a:t>
            </a:r>
            <a:r>
              <a:rPr lang="en-US" altLang="zh-TW" sz="1200">
                <a:latin typeface="Calibri" panose="020F0502020204030204" pitchFamily="34" charset="0"/>
                <a:ea typeface="微軟正黑體" panose="020B0604030504040204" pitchFamily="34" charset="-120"/>
              </a:rPr>
              <a:t>LAUFEN</a:t>
            </a:r>
            <a:r>
              <a:rPr lang="zh-TW" altLang="en-US" sz="1200">
                <a:latin typeface="Calibri" panose="020F0502020204030204" pitchFamily="34" charset="0"/>
                <a:ea typeface="微軟正黑體" panose="020B0604030504040204" pitchFamily="34" charset="-120"/>
              </a:rPr>
              <a:t>都是行業的領先者，無愧於世界頂級衛浴設備的美譽。</a:t>
            </a:r>
          </a:p>
        </p:txBody>
      </p:sp>
      <p:pic>
        <p:nvPicPr>
          <p:cNvPr id="4102" name="Picture 6" descr="http://www.laufen.com/wps/wcm/connect/e32d56804b40fda1ab3bbf7b8d7f8840/020103_Location_MiniBanner_240x90.jpg?MOD=AJPERES&amp;CACHEID=e32d56804b40fda1ab3bbf7b8d7f88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9625" y="2608263"/>
            <a:ext cx="35274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03900" y="4119563"/>
            <a:ext cx="3698875"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04" name="Text Box 83"/>
          <p:cNvSpPr txBox="1">
            <a:spLocks noChangeArrowheads="1"/>
          </p:cNvSpPr>
          <p:nvPr/>
        </p:nvSpPr>
        <p:spPr bwMode="auto">
          <a:xfrm>
            <a:off x="0" y="6021388"/>
            <a:ext cx="936625" cy="8239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1">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hangingPunct="1"/>
            <a:endParaRPr lang="en-US" altLang="zh-TW" sz="1500" b="1">
              <a:solidFill>
                <a:srgbClr val="663300"/>
              </a:solidFill>
              <a:latin typeface="標楷體" panose="03000509000000000000" pitchFamily="65" charset="-120"/>
              <a:ea typeface="標楷體" panose="03000509000000000000" pitchFamily="65" charset="-120"/>
            </a:endParaRPr>
          </a:p>
          <a:p>
            <a:pPr algn="ctr" hangingPunct="1"/>
            <a:r>
              <a:rPr lang="zh-TW" altLang="zh-TW" b="1">
                <a:solidFill>
                  <a:srgbClr val="808080"/>
                </a:solidFill>
                <a:latin typeface="標楷體" panose="03000509000000000000" pitchFamily="65" charset="-120"/>
                <a:ea typeface="標楷體" panose="03000509000000000000" pitchFamily="65" charset="-120"/>
              </a:rPr>
              <a:t>春 積</a:t>
            </a:r>
          </a:p>
          <a:p>
            <a:pPr algn="ctr" hangingPunct="1"/>
            <a:endParaRPr lang="en-US" altLang="zh-TW" sz="1500" b="1">
              <a:solidFill>
                <a:srgbClr val="663300"/>
              </a:solidFill>
              <a:latin typeface="標楷體" panose="03000509000000000000" pitchFamily="65" charset="-120"/>
              <a:ea typeface="標楷體" panose="03000509000000000000" pitchFamily="65" charset="-120"/>
            </a:endParaRP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950" y="1182688"/>
            <a:ext cx="511175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Line 14"/>
          <p:cNvSpPr>
            <a:spLocks noChangeShapeType="1"/>
          </p:cNvSpPr>
          <p:nvPr/>
        </p:nvSpPr>
        <p:spPr bwMode="auto">
          <a:xfrm>
            <a:off x="0" y="6597650"/>
            <a:ext cx="9906000" cy="0"/>
          </a:xfrm>
          <a:prstGeom prst="line">
            <a:avLst/>
          </a:prstGeom>
          <a:noFill/>
          <a:ln w="38100">
            <a:solidFill>
              <a:schemeClr val="bg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zh-TW" altLang="en-US">
              <a:solidFill>
                <a:srgbClr val="808080">
                  <a:lumMod val="75000"/>
                </a:srgbClr>
              </a:solidFill>
              <a:latin typeface="Arial" charset="0"/>
            </a:endParaRPr>
          </a:p>
        </p:txBody>
      </p:sp>
      <p:grpSp>
        <p:nvGrpSpPr>
          <p:cNvPr id="19463" name="群組 4"/>
          <p:cNvGrpSpPr>
            <a:grpSpLocks/>
          </p:cNvGrpSpPr>
          <p:nvPr/>
        </p:nvGrpSpPr>
        <p:grpSpPr bwMode="auto">
          <a:xfrm>
            <a:off x="0" y="115888"/>
            <a:ext cx="9906000" cy="779462"/>
            <a:chOff x="0" y="188640"/>
            <a:chExt cx="9144000" cy="720080"/>
          </a:xfrm>
          <a:solidFill>
            <a:schemeClr val="bg1">
              <a:lumMod val="85000"/>
            </a:schemeClr>
          </a:solidFill>
        </p:grpSpPr>
        <p:sp>
          <p:nvSpPr>
            <p:cNvPr id="19" name="矩形 18"/>
            <p:cNvSpPr/>
            <p:nvPr/>
          </p:nvSpPr>
          <p:spPr>
            <a:xfrm>
              <a:off x="0" y="188640"/>
              <a:ext cx="9144000" cy="7200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pic>
          <p:nvPicPr>
            <p:cNvPr id="19467" name="圖片 3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3094" y="314846"/>
              <a:ext cx="1686519" cy="52176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1" name="文字方塊 20"/>
            <p:cNvSpPr txBox="1"/>
            <p:nvPr/>
          </p:nvSpPr>
          <p:spPr>
            <a:xfrm>
              <a:off x="1987062" y="583144"/>
              <a:ext cx="1532792" cy="246382"/>
            </a:xfrm>
            <a:prstGeom prst="rect">
              <a:avLst/>
            </a:prstGeom>
            <a:grpFill/>
          </p:spPr>
          <p:txBody>
            <a:bodyPr>
              <a:spAutoFit/>
            </a:bodyPr>
            <a:lstStyle/>
            <a:p>
              <a:pPr>
                <a:defRPr/>
              </a:pPr>
              <a:r>
                <a:rPr lang="zh-TW" altLang="en-US" sz="1137" dirty="0">
                  <a:latin typeface="微軟正黑體" panose="020B0604030504040204" pitchFamily="34" charset="-120"/>
                  <a:ea typeface="微軟正黑體" panose="020B0604030504040204" pitchFamily="34" charset="-120"/>
                </a:rPr>
                <a:t>瑞士頂級精品陶瓷衛浴</a:t>
              </a:r>
            </a:p>
          </p:txBody>
        </p:sp>
      </p:grpSp>
      <p:sp>
        <p:nvSpPr>
          <p:cNvPr id="17" name="Text Box 15"/>
          <p:cNvSpPr txBox="1">
            <a:spLocks noChangeArrowheads="1"/>
          </p:cNvSpPr>
          <p:nvPr/>
        </p:nvSpPr>
        <p:spPr bwMode="auto">
          <a:xfrm>
            <a:off x="2152650" y="6615113"/>
            <a:ext cx="5930900" cy="25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28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4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9pPr>
          </a:lstStyle>
          <a:p>
            <a:pPr algn="ctr" eaLnBrk="1" hangingPunct="1">
              <a:spcBef>
                <a:spcPct val="50000"/>
              </a:spcBef>
              <a:buFontTx/>
              <a:buNone/>
              <a:defRPr/>
            </a:pPr>
            <a:r>
              <a:rPr lang="zh-TW" altLang="en-US" sz="1083" smtClean="0">
                <a:solidFill>
                  <a:srgbClr val="606060"/>
                </a:solidFill>
                <a:latin typeface="微軟正黑體" panose="020B0604030504040204" pitchFamily="34" charset="-120"/>
              </a:rPr>
              <a:t>春積衛浴      </a:t>
            </a:r>
            <a:r>
              <a:rPr lang="en-US" altLang="zh-TW" sz="1083" smtClean="0">
                <a:solidFill>
                  <a:srgbClr val="606060"/>
                </a:solidFill>
                <a:latin typeface="微軟正黑體" panose="020B0604030504040204" pitchFamily="34" charset="-120"/>
              </a:rPr>
              <a:t>TWIGGY BATHROOM WORKS SINCE 1982          WWW.TWIGGY.COM.TW</a:t>
            </a:r>
          </a:p>
        </p:txBody>
      </p:sp>
      <p:sp>
        <p:nvSpPr>
          <p:cNvPr id="23" name="Text Box 27"/>
          <p:cNvSpPr txBox="1">
            <a:spLocks noChangeArrowheads="1"/>
          </p:cNvSpPr>
          <p:nvPr/>
        </p:nvSpPr>
        <p:spPr bwMode="auto">
          <a:xfrm>
            <a:off x="7839075" y="350838"/>
            <a:ext cx="1744663" cy="307975"/>
          </a:xfrm>
          <a:prstGeom prst="rect">
            <a:avLst/>
          </a:prstGeom>
          <a:solidFill>
            <a:schemeClr val="bg1">
              <a:lumMod val="65000"/>
            </a:schemeClr>
          </a:solidFill>
          <a:ln>
            <a:noFill/>
          </a:ln>
          <a:effec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r">
              <a:spcBef>
                <a:spcPct val="50000"/>
              </a:spcBef>
              <a:buFontTx/>
              <a:buNone/>
              <a:defRPr/>
            </a:pPr>
            <a:r>
              <a:rPr lang="en-US" altLang="zh-TW" sz="1400" dirty="0" smtClean="0">
                <a:solidFill>
                  <a:schemeClr val="bg1"/>
                </a:solidFill>
                <a:latin typeface="微軟正黑體" panose="020B0604030504040204" pitchFamily="34" charset="-120"/>
                <a:ea typeface="微軟正黑體" panose="020B0604030504040204" pitchFamily="34" charset="-120"/>
              </a:rPr>
              <a:t>LAUFEN</a:t>
            </a:r>
            <a:r>
              <a:rPr lang="zh-TW" altLang="en-US" sz="1400" dirty="0" smtClean="0">
                <a:solidFill>
                  <a:schemeClr val="bg1"/>
                </a:solidFill>
                <a:latin typeface="微軟正黑體" panose="020B0604030504040204" pitchFamily="34" charset="-120"/>
                <a:ea typeface="微軟正黑體" panose="020B0604030504040204" pitchFamily="34" charset="-120"/>
              </a:rPr>
              <a:t>品牌定位</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13319" name="矩形 1"/>
          <p:cNvSpPr>
            <a:spLocks noChangeArrowheads="1"/>
          </p:cNvSpPr>
          <p:nvPr/>
        </p:nvSpPr>
        <p:spPr bwMode="auto">
          <a:xfrm>
            <a:off x="3584575" y="1836738"/>
            <a:ext cx="561657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nSpc>
                <a:spcPct val="150000"/>
              </a:lnSpc>
            </a:pPr>
            <a:r>
              <a:rPr lang="zh-TW" altLang="en-US" sz="1200">
                <a:latin typeface="微軟正黑體" panose="020B0604030504040204" pitchFamily="34" charset="-120"/>
                <a:ea typeface="微軟正黑體" panose="020B0604030504040204" pitchFamily="34" charset="-120"/>
              </a:rPr>
              <a:t>歐洲以各樣的高端豪華用品聞名，衛浴設備也同樣如此。遠到羅馬帝國時期的公共浴池，近到上世紀英國誕生的世界上第一隻抽水馬桶，歐洲一直是衛浴設備的領先者。當今，歐洲仍有一批世界頂級的衛浴設備</a:t>
            </a:r>
            <a:r>
              <a:rPr lang="zh-TW" altLang="en-US" sz="1200" b="1">
                <a:latin typeface="微軟正黑體" panose="020B0604030504040204" pitchFamily="34" charset="-120"/>
                <a:ea typeface="微軟正黑體" panose="020B0604030504040204" pitchFamily="34" charset="-120"/>
              </a:rPr>
              <a:t>，</a:t>
            </a:r>
            <a:r>
              <a:rPr lang="zh-TW" altLang="en-US" sz="1200">
                <a:latin typeface="微軟正黑體" panose="020B0604030504040204" pitchFamily="34" charset="-120"/>
                <a:ea typeface="微軟正黑體" panose="020B0604030504040204" pitchFamily="34" charset="-120"/>
              </a:rPr>
              <a:t>而</a:t>
            </a:r>
            <a:r>
              <a:rPr lang="en-US" altLang="zh-TW" sz="1200">
                <a:latin typeface="微軟正黑體" panose="020B0604030504040204" pitchFamily="34" charset="-120"/>
                <a:ea typeface="微軟正黑體" panose="020B0604030504040204" pitchFamily="34" charset="-120"/>
              </a:rPr>
              <a:t>LAUFEN</a:t>
            </a:r>
            <a:r>
              <a:rPr lang="zh-TW" altLang="en-US" sz="1200">
                <a:latin typeface="微軟正黑體" panose="020B0604030504040204" pitchFamily="34" charset="-120"/>
                <a:ea typeface="微軟正黑體" panose="020B0604030504040204" pitchFamily="34" charset="-120"/>
              </a:rPr>
              <a:t>更是其中的佼佼者。</a:t>
            </a:r>
          </a:p>
          <a:p>
            <a:pPr>
              <a:lnSpc>
                <a:spcPct val="150000"/>
              </a:lnSpc>
            </a:pPr>
            <a:endParaRPr lang="en-US" altLang="zh-TW" sz="1200" b="1">
              <a:latin typeface="微軟正黑體" panose="020B0604030504040204" pitchFamily="34" charset="-120"/>
              <a:ea typeface="微軟正黑體" panose="020B0604030504040204" pitchFamily="34" charset="-120"/>
            </a:endParaRPr>
          </a:p>
          <a:p>
            <a:pPr>
              <a:lnSpc>
                <a:spcPct val="150000"/>
              </a:lnSpc>
            </a:pPr>
            <a:r>
              <a:rPr lang="zh-TW" altLang="en-US" sz="1200" b="1">
                <a:latin typeface="微軟正黑體" panose="020B0604030504040204" pitchFamily="34" charset="-120"/>
                <a:ea typeface="微軟正黑體" panose="020B0604030504040204" pitchFamily="34" charset="-120"/>
              </a:rPr>
              <a:t>從微小的起源到世界知名</a:t>
            </a:r>
            <a:endParaRPr lang="en-US" altLang="zh-TW" sz="1200" b="1">
              <a:latin typeface="微軟正黑體" panose="020B0604030504040204" pitchFamily="34" charset="-120"/>
              <a:ea typeface="微軟正黑體" panose="020B0604030504040204" pitchFamily="34" charset="-120"/>
            </a:endParaRPr>
          </a:p>
          <a:p>
            <a:pPr>
              <a:lnSpc>
                <a:spcPct val="150000"/>
              </a:lnSpc>
            </a:pPr>
            <a:r>
              <a:rPr lang="en-US" altLang="zh-TW" sz="1200">
                <a:latin typeface="微軟正黑體" panose="020B0604030504040204" pitchFamily="34" charset="-120"/>
                <a:ea typeface="微軟正黑體" panose="020B0604030504040204" pitchFamily="34" charset="-120"/>
              </a:rPr>
              <a:t>LAUFEN</a:t>
            </a:r>
            <a:r>
              <a:rPr lang="zh-TW" altLang="en-US" sz="1200">
                <a:latin typeface="微軟正黑體" panose="020B0604030504040204" pitchFamily="34" charset="-120"/>
                <a:ea typeface="微軟正黑體" panose="020B0604030504040204" pitchFamily="34" charset="-120"/>
              </a:rPr>
              <a:t>起源於</a:t>
            </a:r>
            <a:r>
              <a:rPr lang="en-US" altLang="zh-TW" sz="1200">
                <a:latin typeface="微軟正黑體" panose="020B0604030504040204" pitchFamily="34" charset="-120"/>
                <a:ea typeface="微軟正黑體" panose="020B0604030504040204" pitchFamily="34" charset="-120"/>
              </a:rPr>
              <a:t>1892</a:t>
            </a:r>
            <a:r>
              <a:rPr lang="zh-TW" altLang="en-US" sz="1200">
                <a:latin typeface="微軟正黑體" panose="020B0604030504040204" pitchFamily="34" charset="-120"/>
                <a:ea typeface="微軟正黑體" panose="020B0604030504040204" pitchFamily="34" charset="-120"/>
              </a:rPr>
              <a:t>，在當時的衛生狀況與現代可說是相距甚遠，</a:t>
            </a:r>
            <a:r>
              <a:rPr lang="en-US" altLang="zh-TW" sz="1200">
                <a:latin typeface="微軟正黑體" panose="020B0604030504040204" pitchFamily="34" charset="-120"/>
                <a:ea typeface="微軟正黑體" panose="020B0604030504040204" pitchFamily="34" charset="-120"/>
              </a:rPr>
              <a:t>LAUFEN</a:t>
            </a:r>
            <a:r>
              <a:rPr lang="zh-TW" altLang="en-US" sz="1200">
                <a:latin typeface="微軟正黑體" panose="020B0604030504040204" pitchFamily="34" charset="-120"/>
                <a:ea typeface="微軟正黑體" panose="020B0604030504040204" pitchFamily="34" charset="-120"/>
              </a:rPr>
              <a:t>影響了世界的衛浴制度建立，也是百年前的歐洲唯一一家生產瓷器衛浴的公司。</a:t>
            </a:r>
            <a:endParaRPr lang="en-US" altLang="zh-TW" sz="1200">
              <a:latin typeface="微軟正黑體" panose="020B0604030504040204" pitchFamily="34" charset="-120"/>
              <a:ea typeface="微軟正黑體" panose="020B0604030504040204" pitchFamily="34" charset="-120"/>
            </a:endParaRPr>
          </a:p>
          <a:p>
            <a:pPr>
              <a:lnSpc>
                <a:spcPct val="150000"/>
              </a:lnSpc>
            </a:pPr>
            <a:endParaRPr lang="en-US" altLang="zh-TW" sz="1200">
              <a:latin typeface="微軟正黑體" panose="020B0604030504040204" pitchFamily="34" charset="-120"/>
              <a:ea typeface="微軟正黑體" panose="020B0604030504040204" pitchFamily="34" charset="-120"/>
            </a:endParaRPr>
          </a:p>
          <a:p>
            <a:pPr>
              <a:lnSpc>
                <a:spcPct val="150000"/>
              </a:lnSpc>
            </a:pPr>
            <a:r>
              <a:rPr lang="zh-TW" altLang="en-US" sz="1200" b="1">
                <a:solidFill>
                  <a:srgbClr val="000000"/>
                </a:solidFill>
                <a:latin typeface="微軟正黑體" panose="020B0604030504040204" pitchFamily="34" charset="-120"/>
                <a:ea typeface="微軟正黑體" panose="020B0604030504040204" pitchFamily="34" charset="-120"/>
                <a:cs typeface="Arial" panose="020B0604020202020204" pitchFamily="34" charset="0"/>
              </a:rPr>
              <a:t>把浴室打造成生活空間</a:t>
            </a:r>
          </a:p>
          <a:p>
            <a:pPr>
              <a:lnSpc>
                <a:spcPct val="150000"/>
              </a:lnSpc>
            </a:pPr>
            <a:r>
              <a:rPr lang="en-US" altLang="zh-TW" sz="1200">
                <a:solidFill>
                  <a:srgbClr val="000000"/>
                </a:solidFill>
                <a:latin typeface="微軟正黑體" panose="020B0604030504040204" pitchFamily="34" charset="-120"/>
                <a:ea typeface="微軟正黑體" panose="020B0604030504040204" pitchFamily="34" charset="-120"/>
                <a:cs typeface="Arial" panose="020B0604020202020204" pitchFamily="34" charset="0"/>
              </a:rPr>
              <a:t>LAUFEN</a:t>
            </a:r>
            <a:r>
              <a:rPr lang="zh-TW" altLang="en-US" sz="1200">
                <a:solidFill>
                  <a:srgbClr val="000000"/>
                </a:solidFill>
                <a:latin typeface="微軟正黑體" panose="020B0604030504040204" pitchFamily="34" charset="-120"/>
                <a:ea typeface="微軟正黑體" panose="020B0604030504040204" pitchFamily="34" charset="-120"/>
                <a:cs typeface="Arial" panose="020B0604020202020204" pitchFamily="34" charset="0"/>
              </a:rPr>
              <a:t>是源自瑞士的傳統高階衛浴品牌，將設計、品質和功能性三者相互融合。作為世界龍頭的</a:t>
            </a:r>
            <a:r>
              <a:rPr lang="zh-TW" altLang="en-US" sz="1200">
                <a:solidFill>
                  <a:srgbClr val="000000"/>
                </a:solidFill>
                <a:latin typeface="微軟正黑體" panose="020B0604030504040204" pitchFamily="34" charset="-120"/>
                <a:ea typeface="微軟正黑體" panose="020B0604030504040204" pitchFamily="34" charset="-120"/>
              </a:rPr>
              <a:t>衛浴製造商</a:t>
            </a:r>
            <a:r>
              <a:rPr lang="zh-TW" altLang="en-US" sz="1200">
                <a:solidFill>
                  <a:srgbClr val="000000"/>
                </a:solidFill>
                <a:latin typeface="新細明體" panose="02020500000000000000" pitchFamily="18" charset="-120"/>
                <a:cs typeface="Arial" panose="020B0604020202020204" pitchFamily="34" charset="0"/>
              </a:rPr>
              <a:t>－</a:t>
            </a:r>
            <a:r>
              <a:rPr lang="en-US" altLang="zh-TW" sz="1200">
                <a:solidFill>
                  <a:srgbClr val="000000"/>
                </a:solidFill>
                <a:latin typeface="微軟正黑體" panose="020B0604030504040204" pitchFamily="34" charset="-120"/>
                <a:ea typeface="微軟正黑體" panose="020B0604030504040204" pitchFamily="34" charset="-120"/>
              </a:rPr>
              <a:t>ROCA-LAUFEN</a:t>
            </a:r>
            <a:r>
              <a:rPr lang="zh-TW" altLang="en-US" sz="1200">
                <a:solidFill>
                  <a:srgbClr val="000000"/>
                </a:solidFill>
                <a:latin typeface="微軟正黑體" panose="020B0604030504040204" pitchFamily="34" charset="-120"/>
                <a:ea typeface="微軟正黑體" panose="020B0604030504040204" pitchFamily="34" charset="-120"/>
              </a:rPr>
              <a:t>集團旗下的最高階品牌，擁有全球性的銷售網路。</a:t>
            </a:r>
            <a:r>
              <a:rPr lang="en-US" altLang="zh-TW" sz="1200">
                <a:solidFill>
                  <a:srgbClr val="000000"/>
                </a:solidFill>
                <a:latin typeface="微軟正黑體" panose="020B0604030504040204" pitchFamily="34" charset="-120"/>
                <a:ea typeface="微軟正黑體" panose="020B0604030504040204" pitchFamily="34" charset="-120"/>
              </a:rPr>
              <a:t>LAUFEN</a:t>
            </a:r>
            <a:r>
              <a:rPr lang="zh-TW" altLang="en-US" sz="1200">
                <a:solidFill>
                  <a:srgbClr val="000000"/>
                </a:solidFill>
                <a:latin typeface="微軟正黑體" panose="020B0604030504040204" pitchFamily="34" charset="-120"/>
                <a:ea typeface="微軟正黑體" panose="020B0604030504040204" pitchFamily="34" charset="-120"/>
              </a:rPr>
              <a:t>不斷在衛浴領域研發創新與生產製造，以維持其核心競爭力。創始至今</a:t>
            </a:r>
            <a:r>
              <a:rPr lang="en-US" altLang="zh-TW" sz="1200">
                <a:solidFill>
                  <a:srgbClr val="000000"/>
                </a:solidFill>
                <a:latin typeface="微軟正黑體" panose="020B0604030504040204" pitchFamily="34" charset="-120"/>
                <a:ea typeface="微軟正黑體" panose="020B0604030504040204" pitchFamily="34" charset="-120"/>
              </a:rPr>
              <a:t>120</a:t>
            </a:r>
            <a:r>
              <a:rPr lang="zh-TW" altLang="en-US" sz="1200">
                <a:solidFill>
                  <a:srgbClr val="000000"/>
                </a:solidFill>
                <a:latin typeface="微軟正黑體" panose="020B0604030504040204" pitchFamily="34" charset="-120"/>
                <a:ea typeface="微軟正黑體" panose="020B0604030504040204" pitchFamily="34" charset="-120"/>
              </a:rPr>
              <a:t>餘年，始終保持追求高品質與高技術的態度來生產革新性的衛浴產品，這也是</a:t>
            </a:r>
            <a:r>
              <a:rPr lang="en-US" altLang="zh-TW" sz="1200">
                <a:solidFill>
                  <a:srgbClr val="000000"/>
                </a:solidFill>
                <a:latin typeface="微軟正黑體" panose="020B0604030504040204" pitchFamily="34" charset="-120"/>
                <a:ea typeface="微軟正黑體" panose="020B0604030504040204" pitchFamily="34" charset="-120"/>
              </a:rPr>
              <a:t>LAUFEN</a:t>
            </a:r>
            <a:r>
              <a:rPr lang="zh-TW" altLang="en-US" sz="1200">
                <a:solidFill>
                  <a:srgbClr val="000000"/>
                </a:solidFill>
                <a:latin typeface="微軟正黑體" panose="020B0604030504040204" pitchFamily="34" charset="-120"/>
                <a:ea typeface="微軟正黑體" panose="020B0604030504040204" pitchFamily="34" charset="-120"/>
              </a:rPr>
              <a:t>產品眾不同的原因所在。</a:t>
            </a:r>
          </a:p>
        </p:txBody>
      </p:sp>
      <p:pic>
        <p:nvPicPr>
          <p:cNvPr id="133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825" y="2108200"/>
            <a:ext cx="2605088" cy="349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ChangeArrowheads="1"/>
          </p:cNvSpPr>
          <p:nvPr/>
        </p:nvSpPr>
        <p:spPr bwMode="auto">
          <a:xfrm>
            <a:off x="2674938" y="2043113"/>
            <a:ext cx="6332537"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4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30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6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9pPr>
          </a:lstStyle>
          <a:p>
            <a:pPr eaLnBrk="1" hangingPunct="1">
              <a:lnSpc>
                <a:spcPct val="150000"/>
              </a:lnSpc>
              <a:spcBef>
                <a:spcPct val="0"/>
              </a:spcBef>
              <a:buFontTx/>
              <a:buNone/>
            </a:pPr>
            <a:r>
              <a:rPr lang="zh-TW" altLang="en-US" sz="1200">
                <a:solidFill>
                  <a:srgbClr val="000000"/>
                </a:solidFill>
                <a:latin typeface="Calibri" panose="020F0502020204030204" pitchFamily="34" charset="0"/>
                <a:cs typeface="Arial" panose="020B0604020202020204" pitchFamily="34" charset="0"/>
              </a:rPr>
              <a:t>         高品質與優雅新穎的設計加上精密簡潔的功能是根植於所有人心中的瑞士產品形象，人們對於能把美學與功能性完美結合的瑞士產品都有著特别的期待。</a:t>
            </a:r>
            <a:r>
              <a:rPr lang="zh-TW" altLang="en-US" sz="1200">
                <a:solidFill>
                  <a:srgbClr val="222222"/>
                </a:solidFill>
                <a:latin typeface="微軟正黑體" panose="020B0604030504040204" pitchFamily="34" charset="-120"/>
              </a:rPr>
              <a:t>對</a:t>
            </a:r>
            <a:r>
              <a:rPr lang="en-US" altLang="zh-TW" sz="1200">
                <a:solidFill>
                  <a:srgbClr val="222222"/>
                </a:solidFill>
                <a:latin typeface="微軟正黑體" panose="020B0604030504040204" pitchFamily="34" charset="-120"/>
              </a:rPr>
              <a:t>LAUFEN</a:t>
            </a:r>
            <a:r>
              <a:rPr lang="zh-TW" altLang="en-US" sz="1200">
                <a:solidFill>
                  <a:srgbClr val="222222"/>
                </a:solidFill>
                <a:latin typeface="微軟正黑體" panose="020B0604030504040204" pitchFamily="34" charset="-120"/>
              </a:rPr>
              <a:t>而言，品質有兩個面向：一是專業的製造知識，二是高度的實用性。 </a:t>
            </a:r>
            <a:r>
              <a:rPr lang="en-US" altLang="zh-TW" sz="1200">
                <a:solidFill>
                  <a:srgbClr val="222222"/>
                </a:solidFill>
                <a:latin typeface="微軟正黑體" panose="020B0604030504040204" pitchFamily="34" charset="-120"/>
              </a:rPr>
              <a:t>LAUFEN</a:t>
            </a:r>
            <a:r>
              <a:rPr lang="zh-TW" altLang="en-US" sz="1200">
                <a:solidFill>
                  <a:srgbClr val="000000"/>
                </a:solidFill>
                <a:latin typeface="Calibri" panose="020F0502020204030204" pitchFamily="34" charset="0"/>
                <a:cs typeface="Arial" panose="020B0604020202020204" pitchFamily="34" charset="0"/>
              </a:rPr>
              <a:t>同時也向我們詮釋了瑞士設計的主要趨勢：結合了來自南方義大利式的感性設計和北方傳統的精細設計，還有著一部分的法式成熟風格。其瑞士風格闡述的就是敢於突破傳統、打破常規的創意概念。</a:t>
            </a:r>
            <a:endParaRPr lang="en-US" altLang="zh-TW" sz="1200">
              <a:solidFill>
                <a:srgbClr val="000000"/>
              </a:solidFill>
              <a:latin typeface="Calibri" panose="020F0502020204030204" pitchFamily="34" charset="0"/>
              <a:cs typeface="Arial" panose="020B0604020202020204" pitchFamily="34" charset="0"/>
            </a:endParaRPr>
          </a:p>
        </p:txBody>
      </p:sp>
      <p:pic>
        <p:nvPicPr>
          <p:cNvPr id="14339" name="Picture 14" descr="http://clifton.baume-et-mercier.cn/sites/default/files/swiss-made-excellence-2_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13" y="1858963"/>
            <a:ext cx="1595437" cy="1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Line 14"/>
          <p:cNvSpPr>
            <a:spLocks noChangeShapeType="1"/>
          </p:cNvSpPr>
          <p:nvPr/>
        </p:nvSpPr>
        <p:spPr bwMode="auto">
          <a:xfrm>
            <a:off x="0" y="6597650"/>
            <a:ext cx="9906000" cy="0"/>
          </a:xfrm>
          <a:prstGeom prst="line">
            <a:avLst/>
          </a:prstGeom>
          <a:noFill/>
          <a:ln w="38100">
            <a:solidFill>
              <a:schemeClr val="bg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zh-TW" altLang="en-US">
              <a:solidFill>
                <a:srgbClr val="808080">
                  <a:lumMod val="75000"/>
                </a:srgbClr>
              </a:solidFill>
              <a:latin typeface="Arial" charset="0"/>
            </a:endParaRPr>
          </a:p>
        </p:txBody>
      </p:sp>
      <p:sp>
        <p:nvSpPr>
          <p:cNvPr id="12" name="Text Box 15"/>
          <p:cNvSpPr txBox="1">
            <a:spLocks noChangeArrowheads="1"/>
          </p:cNvSpPr>
          <p:nvPr/>
        </p:nvSpPr>
        <p:spPr bwMode="auto">
          <a:xfrm>
            <a:off x="2152650" y="6615113"/>
            <a:ext cx="5930900" cy="25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28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4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9pPr>
          </a:lstStyle>
          <a:p>
            <a:pPr algn="ctr" eaLnBrk="1" hangingPunct="1">
              <a:spcBef>
                <a:spcPct val="50000"/>
              </a:spcBef>
              <a:buFontTx/>
              <a:buNone/>
              <a:defRPr/>
            </a:pPr>
            <a:r>
              <a:rPr lang="zh-TW" altLang="en-US" sz="1083" smtClean="0">
                <a:solidFill>
                  <a:srgbClr val="606060"/>
                </a:solidFill>
                <a:latin typeface="微軟正黑體" panose="020B0604030504040204" pitchFamily="34" charset="-120"/>
              </a:rPr>
              <a:t>春積衛浴      </a:t>
            </a:r>
            <a:r>
              <a:rPr lang="en-US" altLang="zh-TW" sz="1083" smtClean="0">
                <a:solidFill>
                  <a:srgbClr val="606060"/>
                </a:solidFill>
                <a:latin typeface="微軟正黑體" panose="020B0604030504040204" pitchFamily="34" charset="-120"/>
              </a:rPr>
              <a:t>TWIGGY BATHROOM WORKS SINCE 1982          WWW.TWIGGY.COM.TW</a:t>
            </a:r>
          </a:p>
        </p:txBody>
      </p:sp>
      <p:grpSp>
        <p:nvGrpSpPr>
          <p:cNvPr id="21512" name="群組 4"/>
          <p:cNvGrpSpPr>
            <a:grpSpLocks/>
          </p:cNvGrpSpPr>
          <p:nvPr/>
        </p:nvGrpSpPr>
        <p:grpSpPr bwMode="auto">
          <a:xfrm>
            <a:off x="0" y="115888"/>
            <a:ext cx="9906000" cy="779462"/>
            <a:chOff x="0" y="188640"/>
            <a:chExt cx="9144000" cy="720080"/>
          </a:xfrm>
          <a:solidFill>
            <a:schemeClr val="bg1">
              <a:lumMod val="85000"/>
            </a:schemeClr>
          </a:solidFill>
        </p:grpSpPr>
        <p:sp>
          <p:nvSpPr>
            <p:cNvPr id="14" name="矩形 13"/>
            <p:cNvSpPr/>
            <p:nvPr/>
          </p:nvSpPr>
          <p:spPr>
            <a:xfrm>
              <a:off x="0" y="188640"/>
              <a:ext cx="9144000" cy="7200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pic>
          <p:nvPicPr>
            <p:cNvPr id="21514" name="圖片 3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3094" y="314846"/>
              <a:ext cx="1686519" cy="52176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16" name="文字方塊 15"/>
            <p:cNvSpPr txBox="1"/>
            <p:nvPr/>
          </p:nvSpPr>
          <p:spPr>
            <a:xfrm>
              <a:off x="1987062" y="583144"/>
              <a:ext cx="1532792" cy="246382"/>
            </a:xfrm>
            <a:prstGeom prst="rect">
              <a:avLst/>
            </a:prstGeom>
            <a:grpFill/>
          </p:spPr>
          <p:txBody>
            <a:bodyPr>
              <a:spAutoFit/>
            </a:bodyPr>
            <a:lstStyle/>
            <a:p>
              <a:pPr>
                <a:defRPr/>
              </a:pPr>
              <a:r>
                <a:rPr lang="zh-TW" altLang="en-US" sz="1137" dirty="0">
                  <a:latin typeface="微軟正黑體" panose="020B0604030504040204" pitchFamily="34" charset="-120"/>
                  <a:ea typeface="微軟正黑體" panose="020B0604030504040204" pitchFamily="34" charset="-120"/>
                </a:rPr>
                <a:t>瑞士頂級精品陶瓷衛浴</a:t>
              </a:r>
            </a:p>
          </p:txBody>
        </p:sp>
      </p:grpSp>
      <p:pic>
        <p:nvPicPr>
          <p:cNvPr id="14343" name="Picture 18" descr="File:Omega Logo.svg - 维基百科，自由的百科全书"/>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59563" y="4591050"/>
            <a:ext cx="971550"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16" descr="劳力士- 维基百科，自由的百科全书"/>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4075" y="5360988"/>
            <a:ext cx="1014413"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5" name="Picture 18" descr="維氏- 维基百科，自由的百科全书"/>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38725" y="4587875"/>
            <a:ext cx="123031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6" name="Picture 20" descr="File:Wenger-Logo.svg - Wikimedia Commons"/>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57625" y="4540250"/>
            <a:ext cx="70167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7" name="Picture 22" descr="File:ABB logo.svg - 維基百科，自由嘅百科全書"/>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460625" y="5514975"/>
            <a:ext cx="9239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8" name="圖片 6"/>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592388" y="4568825"/>
            <a:ext cx="62547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9" name="Picture 36" descr="Gavin's Logo Library: 諾華Novartis LOGO"/>
          <p:cNvPicPr>
            <a:picLocks noChangeAspect="1" noChangeArrowheads="1"/>
          </p:cNvPicPr>
          <p:nvPr/>
        </p:nvPicPr>
        <p:blipFill>
          <a:blip r:embed="rId10">
            <a:extLst>
              <a:ext uri="{28A0092B-C50C-407E-A947-70E740481C1C}">
                <a14:useLocalDpi xmlns:a14="http://schemas.microsoft.com/office/drawing/2010/main" val="0"/>
              </a:ext>
            </a:extLst>
          </a:blip>
          <a:srcRect t="28226" b="21599"/>
          <a:stretch>
            <a:fillRect/>
          </a:stretch>
        </p:blipFill>
        <p:spPr bwMode="auto">
          <a:xfrm>
            <a:off x="7651750" y="5470525"/>
            <a:ext cx="1390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0" name="Picture 46" descr="Judd Farris QLD/WA | Spring Professional"/>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003675" y="5495925"/>
            <a:ext cx="1111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1" name="Picture 48" descr="File:Roche Logo.svg - Wikimedia Commons"/>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091488" y="4594225"/>
            <a:ext cx="950912"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2" name="Picture 52" descr="禾仲國際實業有限公司"/>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737225" y="5470525"/>
            <a:ext cx="141922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3" name="文字方塊 1"/>
          <p:cNvSpPr txBox="1">
            <a:spLocks noChangeArrowheads="1"/>
          </p:cNvSpPr>
          <p:nvPr/>
        </p:nvSpPr>
        <p:spPr bwMode="auto">
          <a:xfrm>
            <a:off x="849313" y="4597400"/>
            <a:ext cx="12604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zh-TW" altLang="en-US" sz="1400">
                <a:latin typeface="微軟正黑體" panose="020B0604030504040204" pitchFamily="34" charset="-120"/>
                <a:ea typeface="微軟正黑體" panose="020B0604030504040204" pitchFamily="34" charset="-120"/>
              </a:rPr>
              <a:t>瑞士知名品牌</a:t>
            </a:r>
          </a:p>
        </p:txBody>
      </p:sp>
      <p:sp>
        <p:nvSpPr>
          <p:cNvPr id="14354" name="文字方塊 2"/>
          <p:cNvSpPr txBox="1">
            <a:spLocks noChangeArrowheads="1"/>
          </p:cNvSpPr>
          <p:nvPr/>
        </p:nvSpPr>
        <p:spPr bwMode="auto">
          <a:xfrm>
            <a:off x="808038" y="1403350"/>
            <a:ext cx="16208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zh-TW" altLang="en-US" sz="1600" b="1">
                <a:latin typeface="微軟正黑體" panose="020B0604030504040204" pitchFamily="34" charset="-120"/>
                <a:ea typeface="微軟正黑體" panose="020B0604030504040204" pitchFamily="34" charset="-120"/>
              </a:rPr>
              <a:t>工匠精神的瑞士</a:t>
            </a:r>
          </a:p>
        </p:txBody>
      </p:sp>
      <p:sp>
        <p:nvSpPr>
          <p:cNvPr id="38" name="Text Box 27"/>
          <p:cNvSpPr txBox="1">
            <a:spLocks noChangeArrowheads="1"/>
          </p:cNvSpPr>
          <p:nvPr/>
        </p:nvSpPr>
        <p:spPr bwMode="auto">
          <a:xfrm>
            <a:off x="7839075" y="350838"/>
            <a:ext cx="1744663" cy="307975"/>
          </a:xfrm>
          <a:prstGeom prst="rect">
            <a:avLst/>
          </a:prstGeom>
          <a:solidFill>
            <a:schemeClr val="bg1">
              <a:lumMod val="65000"/>
            </a:schemeClr>
          </a:solidFill>
          <a:ln>
            <a:noFill/>
          </a:ln>
          <a:effec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r">
              <a:spcBef>
                <a:spcPct val="50000"/>
              </a:spcBef>
              <a:buFontTx/>
              <a:buNone/>
              <a:defRPr/>
            </a:pPr>
            <a:r>
              <a:rPr lang="zh-TW" altLang="en-US" sz="1400" dirty="0" smtClean="0">
                <a:solidFill>
                  <a:schemeClr val="bg1"/>
                </a:solidFill>
                <a:latin typeface="微軟正黑體" panose="020B0604030504040204" pitchFamily="34" charset="-120"/>
                <a:ea typeface="微軟正黑體" panose="020B0604030504040204" pitchFamily="34" charset="-120"/>
              </a:rPr>
              <a:t>工匠精神的瑞士</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Line 14"/>
          <p:cNvSpPr>
            <a:spLocks noChangeShapeType="1"/>
          </p:cNvSpPr>
          <p:nvPr/>
        </p:nvSpPr>
        <p:spPr bwMode="auto">
          <a:xfrm>
            <a:off x="0" y="6597650"/>
            <a:ext cx="9906000" cy="0"/>
          </a:xfrm>
          <a:prstGeom prst="line">
            <a:avLst/>
          </a:prstGeom>
          <a:noFill/>
          <a:ln w="38100">
            <a:solidFill>
              <a:schemeClr val="bg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zh-TW" altLang="en-US">
              <a:solidFill>
                <a:srgbClr val="808080">
                  <a:lumMod val="75000"/>
                </a:srgbClr>
              </a:solidFill>
              <a:latin typeface="Arial" charset="0"/>
            </a:endParaRPr>
          </a:p>
        </p:txBody>
      </p:sp>
      <p:sp>
        <p:nvSpPr>
          <p:cNvPr id="16" name="Text Box 15"/>
          <p:cNvSpPr txBox="1">
            <a:spLocks noChangeArrowheads="1"/>
          </p:cNvSpPr>
          <p:nvPr/>
        </p:nvSpPr>
        <p:spPr bwMode="auto">
          <a:xfrm>
            <a:off x="2152650" y="6615113"/>
            <a:ext cx="5930900" cy="25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28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4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9pPr>
          </a:lstStyle>
          <a:p>
            <a:pPr algn="ctr" eaLnBrk="1" hangingPunct="1">
              <a:spcBef>
                <a:spcPct val="50000"/>
              </a:spcBef>
              <a:buFontTx/>
              <a:buNone/>
              <a:defRPr/>
            </a:pPr>
            <a:r>
              <a:rPr lang="zh-TW" altLang="en-US" sz="1083" smtClean="0">
                <a:solidFill>
                  <a:srgbClr val="606060"/>
                </a:solidFill>
                <a:latin typeface="微軟正黑體" panose="020B0604030504040204" pitchFamily="34" charset="-120"/>
              </a:rPr>
              <a:t>春積衛浴      </a:t>
            </a:r>
            <a:r>
              <a:rPr lang="en-US" altLang="zh-TW" sz="1083" smtClean="0">
                <a:solidFill>
                  <a:srgbClr val="606060"/>
                </a:solidFill>
                <a:latin typeface="微軟正黑體" panose="020B0604030504040204" pitchFamily="34" charset="-120"/>
              </a:rPr>
              <a:t>TWIGGY BATHROOM WORKS SINCE 1982          WWW.TWIGGY.COM.TW</a:t>
            </a:r>
          </a:p>
        </p:txBody>
      </p:sp>
      <p:grpSp>
        <p:nvGrpSpPr>
          <p:cNvPr id="18442" name="群組 4"/>
          <p:cNvGrpSpPr>
            <a:grpSpLocks/>
          </p:cNvGrpSpPr>
          <p:nvPr/>
        </p:nvGrpSpPr>
        <p:grpSpPr bwMode="auto">
          <a:xfrm>
            <a:off x="0" y="115888"/>
            <a:ext cx="9906000" cy="779462"/>
            <a:chOff x="0" y="188640"/>
            <a:chExt cx="9144000" cy="720080"/>
          </a:xfrm>
          <a:solidFill>
            <a:schemeClr val="bg1">
              <a:lumMod val="85000"/>
            </a:schemeClr>
          </a:solidFill>
        </p:grpSpPr>
        <p:sp>
          <p:nvSpPr>
            <p:cNvPr id="18" name="矩形 17"/>
            <p:cNvSpPr/>
            <p:nvPr/>
          </p:nvSpPr>
          <p:spPr>
            <a:xfrm>
              <a:off x="0" y="188640"/>
              <a:ext cx="9144000" cy="7200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pic>
          <p:nvPicPr>
            <p:cNvPr id="18445" name="圖片 3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3094" y="314846"/>
              <a:ext cx="1686519" cy="52176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0" name="文字方塊 19"/>
            <p:cNvSpPr txBox="1"/>
            <p:nvPr/>
          </p:nvSpPr>
          <p:spPr>
            <a:xfrm>
              <a:off x="1987062" y="583144"/>
              <a:ext cx="1532792" cy="246382"/>
            </a:xfrm>
            <a:prstGeom prst="rect">
              <a:avLst/>
            </a:prstGeom>
            <a:grpFill/>
          </p:spPr>
          <p:txBody>
            <a:bodyPr>
              <a:spAutoFit/>
            </a:bodyPr>
            <a:lstStyle/>
            <a:p>
              <a:pPr>
                <a:defRPr/>
              </a:pPr>
              <a:r>
                <a:rPr lang="zh-TW" altLang="en-US" sz="1137" dirty="0">
                  <a:latin typeface="微軟正黑體" panose="020B0604030504040204" pitchFamily="34" charset="-120"/>
                  <a:ea typeface="微軟正黑體" panose="020B0604030504040204" pitchFamily="34" charset="-120"/>
                </a:rPr>
                <a:t>瑞士頂級精品陶瓷衛浴</a:t>
              </a:r>
            </a:p>
          </p:txBody>
        </p:sp>
      </p:grpSp>
      <p:sp>
        <p:nvSpPr>
          <p:cNvPr id="17" name="Text Box 27"/>
          <p:cNvSpPr txBox="1">
            <a:spLocks noChangeArrowheads="1"/>
          </p:cNvSpPr>
          <p:nvPr/>
        </p:nvSpPr>
        <p:spPr bwMode="auto">
          <a:xfrm>
            <a:off x="7839075" y="350838"/>
            <a:ext cx="1744663" cy="307975"/>
          </a:xfrm>
          <a:prstGeom prst="rect">
            <a:avLst/>
          </a:prstGeom>
          <a:solidFill>
            <a:schemeClr val="bg1">
              <a:lumMod val="65000"/>
            </a:schemeClr>
          </a:solidFill>
          <a:ln>
            <a:noFill/>
          </a:ln>
          <a:effec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r">
              <a:spcBef>
                <a:spcPct val="50000"/>
              </a:spcBef>
              <a:buFontTx/>
              <a:buNone/>
              <a:defRPr/>
            </a:pPr>
            <a:r>
              <a:rPr lang="en-US" altLang="zh-TW" sz="1400" dirty="0" smtClean="0">
                <a:solidFill>
                  <a:schemeClr val="bg1"/>
                </a:solidFill>
                <a:latin typeface="微軟正黑體" panose="020B0604030504040204" pitchFamily="34" charset="-120"/>
                <a:ea typeface="微軟正黑體" panose="020B0604030504040204" pitchFamily="34" charset="-120"/>
              </a:rPr>
              <a:t>LAUFEN</a:t>
            </a:r>
            <a:r>
              <a:rPr lang="zh-TW" altLang="en-US" sz="1400" dirty="0" smtClean="0">
                <a:solidFill>
                  <a:schemeClr val="bg1"/>
                </a:solidFill>
                <a:latin typeface="微軟正黑體" panose="020B0604030504040204" pitchFamily="34" charset="-120"/>
                <a:ea typeface="微軟正黑體" panose="020B0604030504040204" pitchFamily="34" charset="-120"/>
              </a:rPr>
              <a:t>的現況</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pic>
        <p:nvPicPr>
          <p:cNvPr id="15366" name="Picture 15" descr="https://www.laufen.com/laufen-web-static/resources/Light%2BRegion%2B2-THUMB.5217f40e-1f4c-4480-986f-816dcaf915c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0538" y="4752975"/>
            <a:ext cx="22860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字方塊 1"/>
          <p:cNvSpPr txBox="1"/>
          <p:nvPr/>
        </p:nvSpPr>
        <p:spPr>
          <a:xfrm>
            <a:off x="808038" y="1395413"/>
            <a:ext cx="5233987" cy="3232150"/>
          </a:xfrm>
          <a:prstGeom prst="rect">
            <a:avLst/>
          </a:prstGeom>
          <a:noFill/>
        </p:spPr>
        <p:txBody>
          <a:bodyPr>
            <a:spAutoFit/>
          </a:bodyPr>
          <a:lstStyle/>
          <a:p>
            <a:pPr>
              <a:defRPr/>
            </a:pPr>
            <a:r>
              <a:rPr lang="en-US" altLang="zh-TW" sz="1400" b="1" dirty="0">
                <a:latin typeface="微軟正黑體" panose="020B0604030504040204" pitchFamily="34" charset="-120"/>
                <a:ea typeface="微軟正黑體" panose="020B0604030504040204" pitchFamily="34" charset="-120"/>
              </a:rPr>
              <a:t>LAUFEN</a:t>
            </a:r>
            <a:r>
              <a:rPr lang="zh-TW" altLang="en-US" sz="1400" b="1" dirty="0">
                <a:latin typeface="微軟正黑體" panose="020B0604030504040204" pitchFamily="34" charset="-120"/>
                <a:ea typeface="微軟正黑體" panose="020B0604030504040204" pitchFamily="34" charset="-120"/>
              </a:rPr>
              <a:t>衛浴公司現況</a:t>
            </a:r>
            <a:endParaRPr lang="en-US" altLang="zh-TW" sz="1400" dirty="0">
              <a:latin typeface="微軟正黑體" panose="020B0604030504040204" pitchFamily="34" charset="-120"/>
              <a:ea typeface="微軟正黑體" panose="020B0604030504040204" pitchFamily="34" charset="-120"/>
            </a:endParaRPr>
          </a:p>
          <a:p>
            <a:pPr>
              <a:lnSpc>
                <a:spcPct val="150000"/>
              </a:lnSpc>
              <a:defRPr/>
            </a:pPr>
            <a:r>
              <a:rPr lang="zh-TW" altLang="en-US" sz="1200" dirty="0">
                <a:solidFill>
                  <a:srgbClr val="222222"/>
                </a:solidFill>
                <a:latin typeface="微軟正黑體" panose="020B0604030504040204" pitchFamily="34" charset="-120"/>
                <a:ea typeface="微軟正黑體" panose="020B0604030504040204" pitchFamily="34" charset="-120"/>
              </a:rPr>
              <a:t>總部</a:t>
            </a:r>
            <a:r>
              <a:rPr lang="zh-TW" altLang="zh-TW" sz="1200" dirty="0">
                <a:solidFill>
                  <a:srgbClr val="222222"/>
                </a:solidFill>
                <a:latin typeface="微軟正黑體" panose="020B0604030504040204" pitchFamily="34" charset="-120"/>
                <a:ea typeface="微軟正黑體" panose="020B0604030504040204" pitchFamily="34" charset="-120"/>
              </a:rPr>
              <a:t>位於瑞士最美麗的地區</a:t>
            </a:r>
            <a:r>
              <a:rPr lang="zh-TW" altLang="en-US" sz="1200" dirty="0">
                <a:solidFill>
                  <a:srgbClr val="222222"/>
                </a:solidFill>
                <a:latin typeface="新細明體" panose="02020500000000000000" pitchFamily="18" charset="-120"/>
              </a:rPr>
              <a:t>－</a:t>
            </a:r>
            <a:r>
              <a:rPr lang="zh-TW" altLang="zh-TW" sz="1200" dirty="0">
                <a:solidFill>
                  <a:srgbClr val="222222"/>
                </a:solidFill>
                <a:latin typeface="微軟正黑體" panose="020B0604030504040204" pitchFamily="34" charset="-120"/>
                <a:ea typeface="微軟正黑體" panose="020B0604030504040204" pitchFamily="34" charset="-120"/>
              </a:rPr>
              <a:t>汝拉山脈</a:t>
            </a:r>
            <a:r>
              <a:rPr lang="zh-TW" altLang="en-US" sz="1200" dirty="0">
                <a:solidFill>
                  <a:srgbClr val="222222"/>
                </a:solidFill>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鄰近法國及德國交界。</a:t>
            </a:r>
            <a:r>
              <a:rPr lang="zh-TW" altLang="zh-TW" sz="1200" dirty="0">
                <a:solidFill>
                  <a:srgbClr val="222222"/>
                </a:solidFill>
                <a:latin typeface="微軟正黑體" panose="020B0604030504040204" pitchFamily="34" charset="-120"/>
                <a:ea typeface="微軟正黑體" panose="020B0604030504040204" pitchFamily="34" charset="-120"/>
              </a:rPr>
              <a:t>這個地區以其美麗的風景著稱，其乾淨的河流和新鮮的空氣保持了原始的自然風光。</a:t>
            </a:r>
            <a:r>
              <a:rPr lang="zh-TW" altLang="zh-TW" sz="1200" dirty="0">
                <a:latin typeface="微軟正黑體" panose="020B0604030504040204" pitchFamily="34" charset="-120"/>
                <a:ea typeface="微軟正黑體" panose="020B0604030504040204" pitchFamily="34" charset="-120"/>
              </a:rPr>
              <a:t> </a:t>
            </a:r>
            <a:endParaRPr lang="en-US" altLang="zh-TW" sz="1200" dirty="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defRPr/>
            </a:pPr>
            <a:r>
              <a:rPr lang="zh-TW" altLang="en-US" sz="1200" dirty="0">
                <a:latin typeface="微軟正黑體" panose="020B0604030504040204" pitchFamily="34" charset="-120"/>
                <a:ea typeface="微軟正黑體" panose="020B0604030504040204" pitchFamily="34" charset="-120"/>
              </a:rPr>
              <a:t>目前約有</a:t>
            </a:r>
            <a:r>
              <a:rPr lang="en-US" altLang="zh-TW" sz="1200" dirty="0">
                <a:latin typeface="微軟正黑體" panose="020B0604030504040204" pitchFamily="34" charset="-120"/>
                <a:ea typeface="微軟正黑體" panose="020B0604030504040204" pitchFamily="34" charset="-120"/>
              </a:rPr>
              <a:t>2,500</a:t>
            </a:r>
            <a:r>
              <a:rPr lang="zh-TW" altLang="en-US" sz="1200" dirty="0">
                <a:latin typeface="微軟正黑體" panose="020B0604030504040204" pitchFamily="34" charset="-120"/>
                <a:ea typeface="微軟正黑體" panose="020B0604030504040204" pitchFamily="34" charset="-120"/>
              </a:rPr>
              <a:t>名員工。</a:t>
            </a:r>
          </a:p>
          <a:p>
            <a:pPr marL="171450" indent="-171450">
              <a:lnSpc>
                <a:spcPct val="150000"/>
              </a:lnSpc>
              <a:buFont typeface="Arial" panose="020B0604020202020204" pitchFamily="34" charset="0"/>
              <a:buChar char="•"/>
              <a:defRPr/>
            </a:pPr>
            <a:r>
              <a:rPr lang="en-US" altLang="zh-TW" sz="1200" dirty="0">
                <a:latin typeface="微軟正黑體" panose="020B0604030504040204" pitchFamily="34" charset="-120"/>
                <a:ea typeface="微軟正黑體" panose="020B0604030504040204" pitchFamily="34" charset="-120"/>
              </a:rPr>
              <a:t>6</a:t>
            </a:r>
            <a:r>
              <a:rPr lang="zh-TW" altLang="en-US" sz="1200" dirty="0">
                <a:latin typeface="微軟正黑體" panose="020B0604030504040204" pitchFamily="34" charset="-120"/>
                <a:ea typeface="微軟正黑體" panose="020B0604030504040204" pitchFamily="34" charset="-120"/>
              </a:rPr>
              <a:t>個生產工廠－瑞士</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奧地利</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捷克。</a:t>
            </a:r>
            <a:endParaRPr lang="en-US" altLang="zh-TW" sz="1200" dirty="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defRPr/>
            </a:pPr>
            <a:r>
              <a:rPr lang="zh-TW" altLang="en-US" sz="1200" dirty="0">
                <a:latin typeface="微軟正黑體" panose="020B0604030504040204" pitchFamily="34" charset="-120"/>
                <a:ea typeface="微軟正黑體" panose="020B0604030504040204" pitchFamily="34" charset="-120"/>
              </a:rPr>
              <a:t>年營業額約</a:t>
            </a:r>
            <a:r>
              <a:rPr lang="en-US" altLang="zh-TW" sz="1200" dirty="0">
                <a:latin typeface="微軟正黑體" panose="020B0604030504040204" pitchFamily="34" charset="-120"/>
                <a:ea typeface="微軟正黑體" panose="020B0604030504040204" pitchFamily="34" charset="-120"/>
              </a:rPr>
              <a:t>1.8</a:t>
            </a:r>
            <a:r>
              <a:rPr lang="zh-TW" altLang="en-US" sz="1200" dirty="0">
                <a:latin typeface="微軟正黑體" panose="020B0604030504040204" pitchFamily="34" charset="-120"/>
                <a:ea typeface="微軟正黑體" panose="020B0604030504040204" pitchFamily="34" charset="-120"/>
              </a:rPr>
              <a:t>億歐元 。</a:t>
            </a:r>
            <a:endParaRPr lang="en-US" altLang="zh-TW" sz="1200" dirty="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defRPr/>
            </a:pPr>
            <a:r>
              <a:rPr lang="zh-TW" altLang="en-US" sz="1200" dirty="0">
                <a:latin typeface="微軟正黑體" panose="020B0604030504040204" pitchFamily="34" charset="-120"/>
                <a:ea typeface="微軟正黑體" panose="020B0604030504040204" pitchFamily="34" charset="-120"/>
              </a:rPr>
              <a:t>年產量約</a:t>
            </a:r>
            <a:r>
              <a:rPr lang="en-US" altLang="zh-TW" sz="1200" dirty="0">
                <a:latin typeface="微軟正黑體" panose="020B0604030504040204" pitchFamily="34" charset="-120"/>
                <a:ea typeface="微軟正黑體" panose="020B0604030504040204" pitchFamily="34" charset="-120"/>
              </a:rPr>
              <a:t>4</a:t>
            </a:r>
            <a:r>
              <a:rPr lang="zh-TW" altLang="en-US" sz="1200" dirty="0">
                <a:latin typeface="微軟正黑體" panose="020B0604030504040204" pitchFamily="34" charset="-120"/>
                <a:ea typeface="微軟正黑體" panose="020B0604030504040204" pitchFamily="34" charset="-120"/>
              </a:rPr>
              <a:t>百</a:t>
            </a:r>
            <a:r>
              <a:rPr lang="en-US" altLang="zh-TW" sz="1200" dirty="0">
                <a:latin typeface="微軟正黑體" panose="020B0604030504040204" pitchFamily="34" charset="-120"/>
                <a:ea typeface="微軟正黑體" panose="020B0604030504040204" pitchFamily="34" charset="-120"/>
              </a:rPr>
              <a:t>50</a:t>
            </a:r>
            <a:r>
              <a:rPr lang="zh-TW" altLang="en-US" sz="1200" dirty="0">
                <a:latin typeface="微軟正黑體" panose="020B0604030504040204" pitchFamily="34" charset="-120"/>
                <a:ea typeface="微軟正黑體" panose="020B0604030504040204" pitchFamily="34" charset="-120"/>
              </a:rPr>
              <a:t>萬件陶瓷產品。</a:t>
            </a:r>
            <a:endParaRPr lang="en-US" altLang="zh-TW" sz="1400" dirty="0">
              <a:latin typeface="微軟正黑體" panose="020B0604030504040204" pitchFamily="34" charset="-120"/>
              <a:ea typeface="微軟正黑體" panose="020B0604030504040204" pitchFamily="34" charset="-120"/>
            </a:endParaRPr>
          </a:p>
          <a:p>
            <a:pPr>
              <a:defRPr/>
            </a:pPr>
            <a:endParaRPr lang="en-US" altLang="zh-TW" sz="1400" b="1" dirty="0">
              <a:latin typeface="微軟正黑體" panose="020B0604030504040204" pitchFamily="34" charset="-120"/>
              <a:ea typeface="微軟正黑體" panose="020B0604030504040204" pitchFamily="34" charset="-120"/>
            </a:endParaRPr>
          </a:p>
          <a:p>
            <a:pPr>
              <a:defRPr/>
            </a:pPr>
            <a:r>
              <a:rPr lang="en-US" altLang="zh-TW" sz="1400" b="1" dirty="0">
                <a:latin typeface="微軟正黑體" panose="020B0604030504040204" pitchFamily="34" charset="-120"/>
                <a:ea typeface="微軟正黑體" panose="020B0604030504040204" pitchFamily="34" charset="-120"/>
              </a:rPr>
              <a:t>ROCA-LAUFEN</a:t>
            </a:r>
            <a:r>
              <a:rPr lang="zh-TW" altLang="en-US" sz="1400" b="1" dirty="0">
                <a:latin typeface="微軟正黑體" panose="020B0604030504040204" pitchFamily="34" charset="-120"/>
                <a:ea typeface="微軟正黑體" panose="020B0604030504040204" pitchFamily="34" charset="-120"/>
              </a:rPr>
              <a:t>集團現況</a:t>
            </a:r>
            <a:endParaRPr lang="en-US" altLang="zh-TW" sz="1400" dirty="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defRPr/>
            </a:pPr>
            <a:r>
              <a:rPr lang="zh-TW" altLang="en-US" sz="1200" dirty="0">
                <a:latin typeface="微軟正黑體" panose="020B0604030504040204" pitchFamily="34" charset="-120"/>
                <a:ea typeface="微軟正黑體" panose="020B0604030504040204" pitchFamily="34" charset="-120"/>
              </a:rPr>
              <a:t>約有</a:t>
            </a:r>
            <a:r>
              <a:rPr lang="en-US" altLang="zh-TW" sz="1200" dirty="0">
                <a:latin typeface="微軟正黑體" panose="020B0604030504040204" pitchFamily="34" charset="-120"/>
                <a:ea typeface="微軟正黑體" panose="020B0604030504040204" pitchFamily="34" charset="-120"/>
              </a:rPr>
              <a:t>16,000</a:t>
            </a:r>
            <a:r>
              <a:rPr lang="zh-TW" altLang="en-US" sz="1200" dirty="0">
                <a:latin typeface="微軟正黑體" panose="020B0604030504040204" pitchFamily="34" charset="-120"/>
                <a:ea typeface="微軟正黑體" panose="020B0604030504040204" pitchFamily="34" charset="-120"/>
              </a:rPr>
              <a:t>名員工</a:t>
            </a:r>
            <a:endParaRPr lang="en-US" altLang="zh-TW" sz="1200" dirty="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defRPr/>
            </a:pPr>
            <a:r>
              <a:rPr lang="zh-TW" altLang="en-US" sz="1200" dirty="0">
                <a:latin typeface="微軟正黑體" panose="020B0604030504040204" pitchFamily="34" charset="-120"/>
                <a:ea typeface="微軟正黑體" panose="020B0604030504040204" pitchFamily="34" charset="-120"/>
              </a:rPr>
              <a:t>年營業額約</a:t>
            </a:r>
            <a:r>
              <a:rPr lang="en-US" altLang="zh-TW" sz="1200" dirty="0">
                <a:latin typeface="微軟正黑體" panose="020B0604030504040204" pitchFamily="34" charset="-120"/>
                <a:ea typeface="微軟正黑體" panose="020B0604030504040204" pitchFamily="34" charset="-120"/>
              </a:rPr>
              <a:t>16</a:t>
            </a:r>
            <a:r>
              <a:rPr lang="zh-TW" altLang="en-US" sz="1200" dirty="0">
                <a:latin typeface="微軟正黑體" panose="020B0604030504040204" pitchFamily="34" charset="-120"/>
                <a:ea typeface="微軟正黑體" panose="020B0604030504040204" pitchFamily="34" charset="-120"/>
              </a:rPr>
              <a:t>億歐元</a:t>
            </a:r>
            <a:endParaRPr lang="en-US" altLang="zh-TW" sz="1200" dirty="0">
              <a:latin typeface="微軟正黑體" panose="020B0604030504040204" pitchFamily="34" charset="-120"/>
              <a:ea typeface="微軟正黑體" panose="020B0604030504040204" pitchFamily="34" charset="-120"/>
            </a:endParaRPr>
          </a:p>
          <a:p>
            <a:pPr marL="171450" indent="-171450">
              <a:lnSpc>
                <a:spcPct val="150000"/>
              </a:lnSpc>
              <a:buFont typeface="Arial" panose="020B0604020202020204" pitchFamily="34" charset="0"/>
              <a:buChar char="•"/>
              <a:defRPr/>
            </a:pPr>
            <a:r>
              <a:rPr lang="en-US" altLang="zh-TW" sz="1200" dirty="0">
                <a:latin typeface="微軟正黑體" panose="020B0604030504040204" pitchFamily="34" charset="-120"/>
                <a:ea typeface="微軟正黑體" panose="020B0604030504040204" pitchFamily="34" charset="-120"/>
              </a:rPr>
              <a:t>42</a:t>
            </a:r>
            <a:r>
              <a:rPr lang="zh-TW" altLang="en-US" sz="1200" dirty="0">
                <a:latin typeface="微軟正黑體" panose="020B0604030504040204" pitchFamily="34" charset="-120"/>
                <a:ea typeface="微軟正黑體" panose="020B0604030504040204" pitchFamily="34" charset="-120"/>
              </a:rPr>
              <a:t>個生產工廠涵蓋歐美亞等</a:t>
            </a:r>
            <a:r>
              <a:rPr lang="en-US" altLang="zh-TW" sz="1200" dirty="0">
                <a:latin typeface="微軟正黑體" panose="020B0604030504040204" pitchFamily="34" charset="-120"/>
                <a:ea typeface="微軟正黑體" panose="020B0604030504040204" pitchFamily="34" charset="-120"/>
              </a:rPr>
              <a:t>16</a:t>
            </a:r>
            <a:r>
              <a:rPr lang="zh-TW" altLang="en-US" sz="1200" dirty="0">
                <a:latin typeface="微軟正黑體" panose="020B0604030504040204" pitchFamily="34" charset="-120"/>
                <a:ea typeface="微軟正黑體" panose="020B0604030504040204" pitchFamily="34" charset="-120"/>
              </a:rPr>
              <a:t>國</a:t>
            </a:r>
          </a:p>
        </p:txBody>
      </p:sp>
      <p:pic>
        <p:nvPicPr>
          <p:cNvPr id="15368" name="Picture 17" descr="https://www.cn.laufen.com/laufen-web-static/resources/ProductionPlants_AUT_SideBanner3.cffe07c1-e0ad-4b1a-aead-0558f0beb0c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0538" y="3119438"/>
            <a:ext cx="22860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9" name="Picture 19" descr="https://www.cn.laufen.com/laufen-web-static/resources/ProductionPlants_AUT_SideBanner3.bd2cb59a-d168-40f3-aabc-098f4109d399.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8313" y="3119438"/>
            <a:ext cx="22860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0" name="Picture 23" descr="https://www.cn.laufen.com/laufen-web-static/resources/ProductionPlants_CZ_SideBanner.1d681f75-9ab1-46b7-9973-5cb5afe701b1.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0538" y="1616075"/>
            <a:ext cx="22860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1" name="Picture 25" descr="https://www.laufen.com/laufen-web-static/resources/3t.fa8a1dca-6505-4b76-be73-7924a552fe8e.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78313" y="4752975"/>
            <a:ext cx="2305050"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2" name="Picture 28" descr="https://www.cn.laufen.com/laufen-web-static/resources/Mainbanner_Sustainability_990x370.802983004698819890d9f4c6aad4d0ca.jpg"/>
          <p:cNvPicPr>
            <a:picLocks noChangeAspect="1" noChangeArrowheads="1"/>
          </p:cNvPicPr>
          <p:nvPr/>
        </p:nvPicPr>
        <p:blipFill>
          <a:blip r:embed="rId8">
            <a:extLst>
              <a:ext uri="{28A0092B-C50C-407E-A947-70E740481C1C}">
                <a14:useLocalDpi xmlns:a14="http://schemas.microsoft.com/office/drawing/2010/main" val="0"/>
              </a:ext>
            </a:extLst>
          </a:blip>
          <a:srcRect l="13985"/>
          <a:stretch>
            <a:fillRect/>
          </a:stretch>
        </p:blipFill>
        <p:spPr bwMode="auto">
          <a:xfrm>
            <a:off x="920750" y="4748213"/>
            <a:ext cx="3100388" cy="1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2"/>
          <p:cNvGraphicFramePr>
            <a:graphicFrameLocks noChangeAspect="1"/>
          </p:cNvGraphicFramePr>
          <p:nvPr/>
        </p:nvGraphicFramePr>
        <p:xfrm>
          <a:off x="1065213" y="1682750"/>
          <a:ext cx="7485062" cy="4479925"/>
        </p:xfrm>
        <a:graphic>
          <a:graphicData uri="http://schemas.openxmlformats.org/presentationml/2006/ole">
            <mc:AlternateContent xmlns:mc="http://schemas.openxmlformats.org/markup-compatibility/2006">
              <mc:Choice xmlns:v="urn:schemas-microsoft-com:vml" Requires="v">
                <p:oleObj spid="_x0000_s16395" name="圖表" r:id="rId3" imgW="4486387" imgH="2686050" progId="Excel.Chart.8">
                  <p:embed/>
                </p:oleObj>
              </mc:Choice>
              <mc:Fallback>
                <p:oleObj name="圖表" r:id="rId3" imgW="4486387" imgH="2686050"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213" y="1682750"/>
                        <a:ext cx="7485062" cy="447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83" name="Rectangle 31"/>
          <p:cNvSpPr>
            <a:spLocks noChangeArrowheads="1"/>
          </p:cNvSpPr>
          <p:nvPr/>
        </p:nvSpPr>
        <p:spPr bwMode="auto">
          <a:xfrm>
            <a:off x="1189038" y="1595438"/>
            <a:ext cx="6602412" cy="411162"/>
          </a:xfrm>
          <a:prstGeom prst="rect">
            <a:avLst/>
          </a:prstGeom>
          <a:noFill/>
          <a:ln>
            <a:noFill/>
          </a:ln>
          <a:extLst/>
        </p:spPr>
        <p:style>
          <a:lnRef idx="2">
            <a:schemeClr val="accent1">
              <a:shade val="50000"/>
            </a:schemeClr>
          </a:lnRef>
          <a:fillRef idx="1">
            <a:schemeClr val="accent1"/>
          </a:fillRef>
          <a:effectRef idx="0">
            <a:schemeClr val="accent1"/>
          </a:effectRef>
          <a:fontRef idx="minor">
            <a:schemeClr val="lt1"/>
          </a:fontRef>
        </p:style>
        <p:txBody>
          <a:bodyPr anchor="ctr"/>
          <a:lstStyle>
            <a:lvl1pPr defTabSz="873125">
              <a:defRPr kumimoji="1">
                <a:solidFill>
                  <a:schemeClr val="tx1"/>
                </a:solidFill>
                <a:latin typeface="Arial" panose="020B0604020202020204" pitchFamily="34" charset="0"/>
                <a:ea typeface="新細明體" panose="02020500000000000000" pitchFamily="18" charset="-120"/>
              </a:defRPr>
            </a:lvl1pPr>
            <a:lvl2pPr defTabSz="873125">
              <a:defRPr kumimoji="1">
                <a:solidFill>
                  <a:schemeClr val="tx1"/>
                </a:solidFill>
                <a:latin typeface="Arial" panose="020B0604020202020204" pitchFamily="34" charset="0"/>
                <a:ea typeface="新細明體" panose="02020500000000000000" pitchFamily="18" charset="-120"/>
              </a:defRPr>
            </a:lvl2pPr>
            <a:lvl3pPr defTabSz="873125">
              <a:defRPr kumimoji="1">
                <a:solidFill>
                  <a:schemeClr val="tx1"/>
                </a:solidFill>
                <a:latin typeface="Arial" panose="020B0604020202020204" pitchFamily="34" charset="0"/>
                <a:ea typeface="新細明體" panose="02020500000000000000" pitchFamily="18" charset="-120"/>
              </a:defRPr>
            </a:lvl3pPr>
            <a:lvl4pPr defTabSz="873125">
              <a:defRPr kumimoji="1">
                <a:solidFill>
                  <a:schemeClr val="tx1"/>
                </a:solidFill>
                <a:latin typeface="Arial" panose="020B0604020202020204" pitchFamily="34" charset="0"/>
                <a:ea typeface="新細明體" panose="02020500000000000000" pitchFamily="18" charset="-120"/>
              </a:defRPr>
            </a:lvl4pPr>
            <a:lvl5pPr defTabSz="873125">
              <a:defRPr kumimoji="1">
                <a:solidFill>
                  <a:schemeClr val="tx1"/>
                </a:solidFill>
                <a:latin typeface="Arial" panose="020B0604020202020204" pitchFamily="34" charset="0"/>
                <a:ea typeface="新細明體" panose="02020500000000000000" pitchFamily="18" charset="-120"/>
              </a:defRPr>
            </a:lvl5pPr>
            <a:lvl6pPr marL="457200" defTabSz="873125" fontAlgn="base">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914400" defTabSz="873125" fontAlgn="base">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1371600" defTabSz="873125" fontAlgn="base">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1828800" defTabSz="873125" fontAlgn="base">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defRPr/>
            </a:pPr>
            <a:r>
              <a:rPr lang="zh-TW" altLang="en-US" sz="1600" b="1" dirty="0">
                <a:latin typeface="Verdana" panose="020B0604030504040204" pitchFamily="34" charset="0"/>
                <a:ea typeface="微軟正黑體" panose="020B0604030504040204" pitchFamily="34" charset="-120"/>
              </a:rPr>
              <a:t>衛浴陶瓷品牌在歐洲</a:t>
            </a:r>
            <a:r>
              <a:rPr lang="zh-TW" altLang="en-US" sz="1600" b="1" dirty="0" smtClean="0">
                <a:latin typeface="Verdana" panose="020B0604030504040204" pitchFamily="34" charset="0"/>
                <a:ea typeface="微軟正黑體" panose="020B0604030504040204" pitchFamily="34" charset="-120"/>
              </a:rPr>
              <a:t>市場占有率</a:t>
            </a:r>
            <a:endParaRPr lang="en-US" altLang="zh-TW" sz="1600" b="1" dirty="0" smtClean="0">
              <a:latin typeface="Verdana" panose="020B0604030504040204" pitchFamily="34" charset="0"/>
              <a:ea typeface="微軟正黑體" panose="020B0604030504040204" pitchFamily="34" charset="-120"/>
            </a:endParaRPr>
          </a:p>
          <a:p>
            <a:pPr>
              <a:defRPr/>
            </a:pPr>
            <a:endParaRPr lang="en-US" altLang="zh-TW" sz="1600" b="1" dirty="0" smtClean="0">
              <a:latin typeface="Verdana" panose="020B0604030504040204" pitchFamily="34" charset="0"/>
              <a:ea typeface="微軟正黑體" panose="020B0604030504040204" pitchFamily="34" charset="-120"/>
            </a:endParaRPr>
          </a:p>
          <a:p>
            <a:pPr>
              <a:defRPr/>
            </a:pPr>
            <a:r>
              <a:rPr lang="zh-TW" altLang="en-US" sz="1200" dirty="0">
                <a:latin typeface="微軟正黑體" panose="020B0604030504040204" pitchFamily="34" charset="-120"/>
                <a:ea typeface="微軟正黑體" panose="020B0604030504040204" pitchFamily="34" charset="-120"/>
              </a:rPr>
              <a:t>在歐洲其他國家</a:t>
            </a:r>
            <a:r>
              <a:rPr lang="en-US" altLang="zh-TW" sz="1200" dirty="0">
                <a:latin typeface="微軟正黑體" panose="020B0604030504040204" pitchFamily="34" charset="-120"/>
                <a:ea typeface="微軟正黑體" panose="020B0604030504040204" pitchFamily="34" charset="-120"/>
              </a:rPr>
              <a:t>LAUFEN</a:t>
            </a:r>
            <a:r>
              <a:rPr lang="zh-TW" altLang="en-US" sz="1200" dirty="0">
                <a:latin typeface="微軟正黑體" panose="020B0604030504040204" pitchFamily="34" charset="-120"/>
                <a:ea typeface="微軟正黑體" panose="020B0604030504040204" pitchFamily="34" charset="-120"/>
              </a:rPr>
              <a:t>衛浴設備也是家喻戶曉，更是許多高級住宅和酒店的首選產品</a:t>
            </a:r>
            <a:r>
              <a:rPr lang="zh-TW" altLang="en-US" sz="1200" dirty="0" smtClean="0">
                <a:latin typeface="微軟正黑體" panose="020B0604030504040204" pitchFamily="34" charset="-120"/>
                <a:ea typeface="微軟正黑體" panose="020B0604030504040204" pitchFamily="34" charset="-120"/>
              </a:rPr>
              <a:t>。</a:t>
            </a:r>
            <a:endParaRPr lang="zh-TW" altLang="en-US" sz="1200" dirty="0">
              <a:latin typeface="微軟正黑體" panose="020B0604030504040204" pitchFamily="34" charset="-120"/>
              <a:ea typeface="微軟正黑體" panose="020B0604030504040204" pitchFamily="34" charset="-120"/>
            </a:endParaRPr>
          </a:p>
        </p:txBody>
      </p:sp>
      <p:sp>
        <p:nvSpPr>
          <p:cNvPr id="16388" name="Text Box 34"/>
          <p:cNvSpPr txBox="1">
            <a:spLocks noChangeArrowheads="1"/>
          </p:cNvSpPr>
          <p:nvPr/>
        </p:nvSpPr>
        <p:spPr bwMode="auto">
          <a:xfrm>
            <a:off x="7045325" y="2609850"/>
            <a:ext cx="1176338"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4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30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6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9pPr>
          </a:lstStyle>
          <a:p>
            <a:pPr algn="ctr">
              <a:spcBef>
                <a:spcPct val="0"/>
              </a:spcBef>
              <a:buFontTx/>
              <a:buNone/>
            </a:pPr>
            <a:r>
              <a:rPr lang="en-US" altLang="zh-TW" sz="1600">
                <a:latin typeface="Calibri" panose="020F0502020204030204" pitchFamily="34" charset="0"/>
                <a:cs typeface="Calibri" panose="020F0502020204030204" pitchFamily="34" charset="0"/>
              </a:rPr>
              <a:t>Keramag</a:t>
            </a:r>
          </a:p>
          <a:p>
            <a:pPr algn="ctr">
              <a:spcBef>
                <a:spcPct val="0"/>
              </a:spcBef>
              <a:buFontTx/>
              <a:buNone/>
            </a:pPr>
            <a:r>
              <a:rPr lang="en-US" altLang="zh-TW" sz="1600">
                <a:latin typeface="Calibri" panose="020F0502020204030204" pitchFamily="34" charset="0"/>
                <a:cs typeface="Calibri" panose="020F0502020204030204" pitchFamily="34" charset="0"/>
              </a:rPr>
              <a:t>Sphinx</a:t>
            </a:r>
          </a:p>
          <a:p>
            <a:pPr algn="ctr">
              <a:spcBef>
                <a:spcPct val="0"/>
              </a:spcBef>
              <a:buFontTx/>
              <a:buNone/>
            </a:pPr>
            <a:r>
              <a:rPr lang="en-US" altLang="zh-TW" sz="1600">
                <a:latin typeface="Calibri" panose="020F0502020204030204" pitchFamily="34" charset="0"/>
                <a:cs typeface="Calibri" panose="020F0502020204030204" pitchFamily="34" charset="0"/>
              </a:rPr>
              <a:t>Pozzi-Ginori</a:t>
            </a:r>
          </a:p>
          <a:p>
            <a:pPr algn="ctr">
              <a:spcBef>
                <a:spcPct val="0"/>
              </a:spcBef>
              <a:buFontTx/>
              <a:buNone/>
            </a:pPr>
            <a:r>
              <a:rPr lang="en-US" altLang="zh-TW" sz="1600">
                <a:latin typeface="Calibri" panose="020F0502020204030204" pitchFamily="34" charset="0"/>
                <a:cs typeface="Calibri" panose="020F0502020204030204" pitchFamily="34" charset="0"/>
              </a:rPr>
              <a:t>Selles</a:t>
            </a:r>
          </a:p>
          <a:p>
            <a:pPr algn="ctr">
              <a:spcBef>
                <a:spcPct val="0"/>
              </a:spcBef>
              <a:buFontTx/>
              <a:buNone/>
            </a:pPr>
            <a:r>
              <a:rPr lang="en-US" altLang="zh-TW" sz="1600">
                <a:latin typeface="Calibri" panose="020F0502020204030204" pitchFamily="34" charset="0"/>
                <a:cs typeface="Calibri" panose="020F0502020204030204" pitchFamily="34" charset="0"/>
              </a:rPr>
              <a:t>Allia</a:t>
            </a:r>
          </a:p>
          <a:p>
            <a:pPr algn="ctr">
              <a:spcBef>
                <a:spcPct val="0"/>
              </a:spcBef>
              <a:buFontTx/>
              <a:buNone/>
            </a:pPr>
            <a:r>
              <a:rPr lang="en-US" altLang="zh-TW" sz="1600">
                <a:latin typeface="Calibri" panose="020F0502020204030204" pitchFamily="34" charset="0"/>
                <a:cs typeface="Calibri" panose="020F0502020204030204" pitchFamily="34" charset="0"/>
              </a:rPr>
              <a:t>Koto</a:t>
            </a:r>
          </a:p>
        </p:txBody>
      </p:sp>
      <p:sp>
        <p:nvSpPr>
          <p:cNvPr id="16389" name="Text Box 35"/>
          <p:cNvSpPr txBox="1">
            <a:spLocks noChangeArrowheads="1"/>
          </p:cNvSpPr>
          <p:nvPr/>
        </p:nvSpPr>
        <p:spPr bwMode="auto">
          <a:xfrm>
            <a:off x="4491038" y="5521325"/>
            <a:ext cx="846137"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4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30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6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9pPr>
          </a:lstStyle>
          <a:p>
            <a:pPr algn="ctr">
              <a:spcBef>
                <a:spcPct val="0"/>
              </a:spcBef>
              <a:buFontTx/>
              <a:buNone/>
            </a:pPr>
            <a:r>
              <a:rPr lang="en-US" altLang="zh-TW" sz="1600">
                <a:latin typeface="Calibri" panose="020F0502020204030204" pitchFamily="34" charset="0"/>
                <a:cs typeface="Calibri" panose="020F0502020204030204" pitchFamily="34" charset="0"/>
              </a:rPr>
              <a:t>LAUFEN</a:t>
            </a:r>
          </a:p>
          <a:p>
            <a:pPr algn="ctr">
              <a:spcBef>
                <a:spcPct val="0"/>
              </a:spcBef>
              <a:buFontTx/>
              <a:buNone/>
            </a:pPr>
            <a:r>
              <a:rPr lang="en-US" altLang="zh-TW" sz="1600">
                <a:latin typeface="Calibri" panose="020F0502020204030204" pitchFamily="34" charset="0"/>
                <a:cs typeface="Calibri" panose="020F0502020204030204" pitchFamily="34" charset="0"/>
              </a:rPr>
              <a:t>ROCA</a:t>
            </a:r>
          </a:p>
        </p:txBody>
      </p:sp>
      <p:sp>
        <p:nvSpPr>
          <p:cNvPr id="16390" name="Text Box 37"/>
          <p:cNvSpPr txBox="1">
            <a:spLocks noChangeArrowheads="1"/>
          </p:cNvSpPr>
          <p:nvPr/>
        </p:nvSpPr>
        <p:spPr bwMode="auto">
          <a:xfrm>
            <a:off x="6321425" y="5456238"/>
            <a:ext cx="1771650"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4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30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6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9pPr>
          </a:lstStyle>
          <a:p>
            <a:pPr algn="ctr">
              <a:spcBef>
                <a:spcPct val="0"/>
              </a:spcBef>
              <a:buFontTx/>
              <a:buNone/>
            </a:pPr>
            <a:r>
              <a:rPr lang="en-US" altLang="zh-TW" sz="1600">
                <a:latin typeface="Calibri" panose="020F0502020204030204" pitchFamily="34" charset="0"/>
                <a:cs typeface="Calibri" panose="020F0502020204030204" pitchFamily="34" charset="0"/>
              </a:rPr>
              <a:t>American Standard</a:t>
            </a:r>
          </a:p>
          <a:p>
            <a:pPr algn="ctr">
              <a:spcBef>
                <a:spcPct val="0"/>
              </a:spcBef>
              <a:buFontTx/>
              <a:buNone/>
            </a:pPr>
            <a:r>
              <a:rPr lang="en-US" altLang="zh-TW" sz="1600">
                <a:latin typeface="Calibri" panose="020F0502020204030204" pitchFamily="34" charset="0"/>
                <a:cs typeface="Calibri" panose="020F0502020204030204" pitchFamily="34" charset="0"/>
              </a:rPr>
              <a:t>Ideal Standard</a:t>
            </a:r>
          </a:p>
        </p:txBody>
      </p:sp>
      <p:sp>
        <p:nvSpPr>
          <p:cNvPr id="13" name="Line 14"/>
          <p:cNvSpPr>
            <a:spLocks noChangeShapeType="1"/>
          </p:cNvSpPr>
          <p:nvPr/>
        </p:nvSpPr>
        <p:spPr bwMode="auto">
          <a:xfrm>
            <a:off x="0" y="6597650"/>
            <a:ext cx="9906000" cy="0"/>
          </a:xfrm>
          <a:prstGeom prst="line">
            <a:avLst/>
          </a:prstGeom>
          <a:noFill/>
          <a:ln w="38100">
            <a:solidFill>
              <a:schemeClr val="bg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zh-TW" altLang="en-US">
              <a:solidFill>
                <a:srgbClr val="808080">
                  <a:lumMod val="75000"/>
                </a:srgbClr>
              </a:solidFill>
              <a:latin typeface="Arial" charset="0"/>
            </a:endParaRPr>
          </a:p>
        </p:txBody>
      </p:sp>
      <p:sp>
        <p:nvSpPr>
          <p:cNvPr id="15" name="Text Box 15"/>
          <p:cNvSpPr txBox="1">
            <a:spLocks noChangeArrowheads="1"/>
          </p:cNvSpPr>
          <p:nvPr/>
        </p:nvSpPr>
        <p:spPr bwMode="auto">
          <a:xfrm>
            <a:off x="2152650" y="6615113"/>
            <a:ext cx="5930900" cy="25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28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4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9pPr>
          </a:lstStyle>
          <a:p>
            <a:pPr algn="ctr" eaLnBrk="1" hangingPunct="1">
              <a:spcBef>
                <a:spcPct val="50000"/>
              </a:spcBef>
              <a:buFontTx/>
              <a:buNone/>
              <a:defRPr/>
            </a:pPr>
            <a:r>
              <a:rPr lang="zh-TW" altLang="en-US" sz="1083" smtClean="0">
                <a:solidFill>
                  <a:srgbClr val="606060"/>
                </a:solidFill>
                <a:latin typeface="微軟正黑體" panose="020B0604030504040204" pitchFamily="34" charset="-120"/>
              </a:rPr>
              <a:t>春積衛浴      </a:t>
            </a:r>
            <a:r>
              <a:rPr lang="en-US" altLang="zh-TW" sz="1083" smtClean="0">
                <a:solidFill>
                  <a:srgbClr val="606060"/>
                </a:solidFill>
                <a:latin typeface="微軟正黑體" panose="020B0604030504040204" pitchFamily="34" charset="-120"/>
              </a:rPr>
              <a:t>TWIGGY BATHROOM WORKS SINCE 1982          WWW.TWIGGY.COM.TW</a:t>
            </a:r>
          </a:p>
        </p:txBody>
      </p:sp>
      <p:grpSp>
        <p:nvGrpSpPr>
          <p:cNvPr id="20489" name="群組 4"/>
          <p:cNvGrpSpPr>
            <a:grpSpLocks/>
          </p:cNvGrpSpPr>
          <p:nvPr/>
        </p:nvGrpSpPr>
        <p:grpSpPr bwMode="auto">
          <a:xfrm>
            <a:off x="0" y="115888"/>
            <a:ext cx="9906000" cy="779462"/>
            <a:chOff x="0" y="188640"/>
            <a:chExt cx="9144000" cy="720080"/>
          </a:xfrm>
          <a:solidFill>
            <a:schemeClr val="bg1">
              <a:lumMod val="85000"/>
            </a:schemeClr>
          </a:solidFill>
        </p:grpSpPr>
        <p:sp>
          <p:nvSpPr>
            <p:cNvPr id="22" name="矩形 21"/>
            <p:cNvSpPr/>
            <p:nvPr/>
          </p:nvSpPr>
          <p:spPr>
            <a:xfrm>
              <a:off x="0" y="188640"/>
              <a:ext cx="9144000" cy="7200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pic>
          <p:nvPicPr>
            <p:cNvPr id="20492" name="圖片 3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93094" y="314846"/>
              <a:ext cx="1686519" cy="52176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4" name="文字方塊 23"/>
            <p:cNvSpPr txBox="1"/>
            <p:nvPr/>
          </p:nvSpPr>
          <p:spPr>
            <a:xfrm>
              <a:off x="1987062" y="583144"/>
              <a:ext cx="1532792" cy="246382"/>
            </a:xfrm>
            <a:prstGeom prst="rect">
              <a:avLst/>
            </a:prstGeom>
            <a:grpFill/>
          </p:spPr>
          <p:txBody>
            <a:bodyPr>
              <a:spAutoFit/>
            </a:bodyPr>
            <a:lstStyle/>
            <a:p>
              <a:pPr>
                <a:defRPr/>
              </a:pPr>
              <a:r>
                <a:rPr lang="zh-TW" altLang="en-US" sz="1137" dirty="0">
                  <a:latin typeface="微軟正黑體" panose="020B0604030504040204" pitchFamily="34" charset="-120"/>
                  <a:ea typeface="微軟正黑體" panose="020B0604030504040204" pitchFamily="34" charset="-120"/>
                </a:rPr>
                <a:t>瑞士頂級精品陶瓷衛浴</a:t>
              </a:r>
            </a:p>
          </p:txBody>
        </p:sp>
      </p:grpSp>
      <p:sp>
        <p:nvSpPr>
          <p:cNvPr id="16" name="Text Box 27"/>
          <p:cNvSpPr txBox="1">
            <a:spLocks noChangeArrowheads="1"/>
          </p:cNvSpPr>
          <p:nvPr/>
        </p:nvSpPr>
        <p:spPr bwMode="auto">
          <a:xfrm>
            <a:off x="7839075" y="350838"/>
            <a:ext cx="1744663" cy="307975"/>
          </a:xfrm>
          <a:prstGeom prst="rect">
            <a:avLst/>
          </a:prstGeom>
          <a:solidFill>
            <a:schemeClr val="bg1">
              <a:lumMod val="65000"/>
            </a:schemeClr>
          </a:solidFill>
          <a:ln>
            <a:noFill/>
          </a:ln>
          <a:effec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r">
              <a:spcBef>
                <a:spcPct val="50000"/>
              </a:spcBef>
              <a:buFontTx/>
              <a:buNone/>
              <a:defRPr/>
            </a:pPr>
            <a:r>
              <a:rPr lang="zh-TW" altLang="en-US" sz="1400" dirty="0" smtClean="0">
                <a:solidFill>
                  <a:schemeClr val="bg1"/>
                </a:solidFill>
                <a:latin typeface="微軟正黑體" panose="020B0604030504040204" pitchFamily="34" charset="-120"/>
                <a:ea typeface="微軟正黑體" panose="020B0604030504040204" pitchFamily="34" charset="-120"/>
              </a:rPr>
              <a:t>歐洲市場</a:t>
            </a:r>
            <a:r>
              <a:rPr lang="zh-TW" altLang="en-US" sz="1400" dirty="0">
                <a:solidFill>
                  <a:schemeClr val="bg1"/>
                </a:solidFill>
                <a:latin typeface="微軟正黑體" panose="020B0604030504040204" pitchFamily="34" charset="-120"/>
                <a:ea typeface="微軟正黑體" panose="020B0604030504040204" pitchFamily="34" charset="-120"/>
              </a:rPr>
              <a:t>占有率</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8"/>
          <p:cNvSpPr>
            <a:spLocks noChangeArrowheads="1"/>
          </p:cNvSpPr>
          <p:nvPr/>
        </p:nvSpPr>
        <p:spPr bwMode="auto">
          <a:xfrm>
            <a:off x="631825" y="1279525"/>
            <a:ext cx="5543550" cy="285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nSpc>
                <a:spcPct val="140000"/>
              </a:lnSpc>
            </a:pPr>
            <a:r>
              <a:rPr lang="en-US" altLang="zh-TW" sz="1600" b="1">
                <a:latin typeface="微軟正黑體" panose="020B0604030504040204" pitchFamily="34" charset="-120"/>
                <a:ea typeface="微軟正黑體" panose="020B0604030504040204" pitchFamily="34" charset="-120"/>
              </a:rPr>
              <a:t>LAUFEN </a:t>
            </a:r>
            <a:r>
              <a:rPr lang="zh-TW" altLang="en-US" sz="1600" b="1">
                <a:latin typeface="微軟正黑體" panose="020B0604030504040204" pitchFamily="34" charset="-120"/>
                <a:ea typeface="微軟正黑體" panose="020B0604030504040204" pitchFamily="34" charset="-120"/>
              </a:rPr>
              <a:t>的堅持</a:t>
            </a:r>
            <a:endParaRPr lang="en-US" altLang="zh-TW" sz="1600" b="1">
              <a:latin typeface="微軟正黑體" panose="020B0604030504040204" pitchFamily="34" charset="-120"/>
              <a:ea typeface="微軟正黑體" panose="020B0604030504040204" pitchFamily="34" charset="-120"/>
            </a:endParaRPr>
          </a:p>
          <a:p>
            <a:pPr>
              <a:lnSpc>
                <a:spcPct val="140000"/>
              </a:lnSpc>
            </a:pPr>
            <a:endParaRPr lang="zh-TW" altLang="en-US" sz="1600" b="1">
              <a:latin typeface="微軟正黑體" panose="020B0604030504040204" pitchFamily="34" charset="-120"/>
              <a:ea typeface="微軟正黑體" panose="020B0604030504040204" pitchFamily="34" charset="-120"/>
            </a:endParaRPr>
          </a:p>
          <a:p>
            <a:pPr>
              <a:lnSpc>
                <a:spcPct val="140000"/>
              </a:lnSpc>
              <a:buFontTx/>
              <a:buChar char="•"/>
            </a:pPr>
            <a:r>
              <a:rPr lang="en-US" altLang="zh-TW" sz="1200">
                <a:ea typeface="微軟正黑體" panose="020B0604030504040204" pitchFamily="34" charset="-120"/>
              </a:rPr>
              <a:t>LAUFEN</a:t>
            </a:r>
            <a:r>
              <a:rPr lang="zh-TW" altLang="en-US" sz="1200">
                <a:ea typeface="微軟正黑體" panose="020B0604030504040204" pitchFamily="34" charset="-120"/>
              </a:rPr>
              <a:t>開發的高壓注漿成型技術廣泛為業界推崇和採用。</a:t>
            </a:r>
            <a:endParaRPr lang="en-US" altLang="zh-TW" sz="1200">
              <a:ea typeface="微軟正黑體" panose="020B0604030504040204" pitchFamily="34" charset="-120"/>
            </a:endParaRPr>
          </a:p>
          <a:p>
            <a:pPr>
              <a:lnSpc>
                <a:spcPct val="140000"/>
              </a:lnSpc>
              <a:buFontTx/>
              <a:buChar char="•"/>
            </a:pPr>
            <a:r>
              <a:rPr lang="zh-TW" altLang="en-US" sz="1200">
                <a:ea typeface="微軟正黑體" panose="020B0604030504040204" pitchFamily="34" charset="-120"/>
              </a:rPr>
              <a:t>堅持傳統技師手工打造，精雕角度與平衡感俐落，以維持產品完美。 </a:t>
            </a:r>
          </a:p>
          <a:p>
            <a:pPr>
              <a:lnSpc>
                <a:spcPct val="140000"/>
              </a:lnSpc>
              <a:buFontTx/>
              <a:buChar char="•"/>
            </a:pPr>
            <a:r>
              <a:rPr lang="zh-TW" altLang="en-US" sz="1200">
                <a:ea typeface="微軟正黑體" panose="020B0604030504040204" pitchFamily="34" charset="-120"/>
              </a:rPr>
              <a:t>堅持傳統的製作技術，生胚完成時，室外自然風乾</a:t>
            </a:r>
            <a:r>
              <a:rPr lang="en-US" altLang="zh-TW" sz="1200">
                <a:ea typeface="微軟正黑體" panose="020B0604030504040204" pitchFamily="34" charset="-120"/>
              </a:rPr>
              <a:t>2</a:t>
            </a:r>
            <a:r>
              <a:rPr lang="zh-TW" altLang="en-US" sz="1200">
                <a:ea typeface="微軟正黑體" panose="020B0604030504040204" pitchFamily="34" charset="-120"/>
              </a:rPr>
              <a:t>天，</a:t>
            </a:r>
          </a:p>
          <a:p>
            <a:pPr>
              <a:lnSpc>
                <a:spcPct val="140000"/>
              </a:lnSpc>
            </a:pPr>
            <a:r>
              <a:rPr lang="zh-TW" altLang="en-US" sz="1200">
                <a:ea typeface="微軟正黑體" panose="020B0604030504040204" pitchFamily="34" charset="-120"/>
              </a:rPr>
              <a:t>  室內烘乾</a:t>
            </a:r>
            <a:r>
              <a:rPr lang="en-US" altLang="zh-TW" sz="1200">
                <a:ea typeface="微軟正黑體" panose="020B0604030504040204" pitchFamily="34" charset="-120"/>
              </a:rPr>
              <a:t>2</a:t>
            </a:r>
            <a:r>
              <a:rPr lang="zh-TW" altLang="en-US" sz="1200">
                <a:ea typeface="微軟正黑體" panose="020B0604030504040204" pitchFamily="34" charset="-120"/>
              </a:rPr>
              <a:t>天，在攝氏</a:t>
            </a:r>
            <a:r>
              <a:rPr lang="en-US" altLang="zh-TW" sz="1200">
                <a:ea typeface="微軟正黑體" panose="020B0604030504040204" pitchFamily="34" charset="-120"/>
              </a:rPr>
              <a:t>1240</a:t>
            </a:r>
            <a:r>
              <a:rPr lang="zh-TW" altLang="en-US" sz="1200">
                <a:ea typeface="微軟正黑體" panose="020B0604030504040204" pitchFamily="34" charset="-120"/>
              </a:rPr>
              <a:t>度下燒製，使陶瓷全瓷化，產品更耐用。 </a:t>
            </a:r>
          </a:p>
          <a:p>
            <a:pPr>
              <a:lnSpc>
                <a:spcPct val="140000"/>
              </a:lnSpc>
              <a:buFontTx/>
              <a:buChar char="•"/>
            </a:pPr>
            <a:r>
              <a:rPr lang="zh-TW" altLang="en-US" sz="1200">
                <a:ea typeface="微軟正黑體" panose="020B0604030504040204" pitchFamily="34" charset="-120"/>
              </a:rPr>
              <a:t>堅持精選材質石英晶石高嶺土。 </a:t>
            </a:r>
          </a:p>
          <a:p>
            <a:pPr>
              <a:lnSpc>
                <a:spcPct val="140000"/>
              </a:lnSpc>
              <a:buFontTx/>
              <a:buChar char="•"/>
            </a:pPr>
            <a:r>
              <a:rPr lang="zh-TW" altLang="en-US" sz="1200">
                <a:ea typeface="微軟正黑體" panose="020B0604030504040204" pitchFamily="34" charset="-120"/>
              </a:rPr>
              <a:t>堅持每個產品出廠前均經過</a:t>
            </a:r>
            <a:r>
              <a:rPr lang="en-US" altLang="zh-TW" sz="1200">
                <a:ea typeface="微軟正黑體" panose="020B0604030504040204" pitchFamily="34" charset="-120"/>
              </a:rPr>
              <a:t>15</a:t>
            </a:r>
            <a:r>
              <a:rPr lang="zh-TW" altLang="en-US" sz="1200">
                <a:ea typeface="微軟正黑體" panose="020B0604030504040204" pitchFamily="34" charset="-120"/>
              </a:rPr>
              <a:t>道關卡，嚴密的品質控管以達完美品質。</a:t>
            </a:r>
            <a:endParaRPr lang="en-US" altLang="zh-TW" sz="1200">
              <a:ea typeface="微軟正黑體" panose="020B0604030504040204" pitchFamily="34" charset="-120"/>
            </a:endParaRPr>
          </a:p>
          <a:p>
            <a:pPr>
              <a:lnSpc>
                <a:spcPct val="140000"/>
              </a:lnSpc>
              <a:buFontTx/>
              <a:buChar char="•"/>
            </a:pPr>
            <a:r>
              <a:rPr lang="zh-TW" altLang="en-US" sz="1200">
                <a:ea typeface="微軟正黑體" panose="020B0604030504040204" pitchFamily="34" charset="-120"/>
              </a:rPr>
              <a:t>全系列馬桶排糞管全面施釉，有效避免日後阻塞問題。</a:t>
            </a:r>
            <a:endParaRPr lang="en-US" altLang="zh-TW" sz="1200">
              <a:ea typeface="微軟正黑體" panose="020B0604030504040204" pitchFamily="34" charset="-120"/>
            </a:endParaRPr>
          </a:p>
          <a:p>
            <a:pPr>
              <a:lnSpc>
                <a:spcPct val="140000"/>
              </a:lnSpc>
              <a:buFontTx/>
              <a:buChar char="•"/>
            </a:pPr>
            <a:r>
              <a:rPr lang="zh-TW" altLang="en-US" sz="1200" u="sng">
                <a:solidFill>
                  <a:srgbClr val="FF0000"/>
                </a:solidFill>
                <a:ea typeface="微軟正黑體" panose="020B0604030504040204" pitchFamily="34" charset="-120"/>
              </a:rPr>
              <a:t>產地為瑞士、奧地利、捷克</a:t>
            </a:r>
            <a:r>
              <a:rPr lang="zh-TW" altLang="en-US" sz="1200">
                <a:ea typeface="微軟正黑體" panose="020B0604030504040204" pitchFamily="34" charset="-120"/>
              </a:rPr>
              <a:t>。</a:t>
            </a:r>
          </a:p>
        </p:txBody>
      </p:sp>
      <p:pic>
        <p:nvPicPr>
          <p:cNvPr id="1945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750" y="4521200"/>
            <a:ext cx="2446338" cy="178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460" name="Picture 10" descr="File00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2413" y="4514850"/>
            <a:ext cx="1665287"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14"/>
          <p:cNvPicPr>
            <a:picLocks noChangeAspect="1" noChangeArrowheads="1"/>
          </p:cNvPicPr>
          <p:nvPr/>
        </p:nvPicPr>
        <p:blipFill>
          <a:blip r:embed="rId4">
            <a:extLst>
              <a:ext uri="{28A0092B-C50C-407E-A947-70E740481C1C}">
                <a14:useLocalDpi xmlns:a14="http://schemas.microsoft.com/office/drawing/2010/main" val="0"/>
              </a:ext>
            </a:extLst>
          </a:blip>
          <a:srcRect r="2158"/>
          <a:stretch>
            <a:fillRect/>
          </a:stretch>
        </p:blipFill>
        <p:spPr bwMode="auto">
          <a:xfrm>
            <a:off x="4737100" y="4514850"/>
            <a:ext cx="1665288"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圖片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753225" y="1033463"/>
            <a:ext cx="2444750" cy="142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圖片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761163" y="2670175"/>
            <a:ext cx="24447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圖片 2"/>
          <p:cNvPicPr>
            <a:picLocks noChangeAspect="1"/>
          </p:cNvPicPr>
          <p:nvPr/>
        </p:nvPicPr>
        <p:blipFill>
          <a:blip r:embed="rId7">
            <a:extLst>
              <a:ext uri="{28A0092B-C50C-407E-A947-70E740481C1C}">
                <a14:useLocalDpi xmlns:a14="http://schemas.microsoft.com/office/drawing/2010/main" val="0"/>
              </a:ext>
            </a:extLst>
          </a:blip>
          <a:srcRect t="25281" b="17834"/>
          <a:stretch>
            <a:fillRect/>
          </a:stretch>
        </p:blipFill>
        <p:spPr bwMode="auto">
          <a:xfrm>
            <a:off x="631825" y="4529138"/>
            <a:ext cx="1871663"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ine 14"/>
          <p:cNvSpPr>
            <a:spLocks noChangeShapeType="1"/>
          </p:cNvSpPr>
          <p:nvPr/>
        </p:nvSpPr>
        <p:spPr bwMode="auto">
          <a:xfrm>
            <a:off x="0" y="6597650"/>
            <a:ext cx="9906000" cy="0"/>
          </a:xfrm>
          <a:prstGeom prst="line">
            <a:avLst/>
          </a:prstGeom>
          <a:noFill/>
          <a:ln w="38100">
            <a:solidFill>
              <a:schemeClr val="bg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zh-TW" altLang="en-US">
              <a:solidFill>
                <a:srgbClr val="808080">
                  <a:lumMod val="75000"/>
                </a:srgbClr>
              </a:solidFill>
              <a:latin typeface="Arial" charset="0"/>
            </a:endParaRPr>
          </a:p>
        </p:txBody>
      </p:sp>
      <p:sp>
        <p:nvSpPr>
          <p:cNvPr id="16" name="Text Box 15"/>
          <p:cNvSpPr txBox="1">
            <a:spLocks noChangeArrowheads="1"/>
          </p:cNvSpPr>
          <p:nvPr/>
        </p:nvSpPr>
        <p:spPr bwMode="auto">
          <a:xfrm>
            <a:off x="2152650" y="6615113"/>
            <a:ext cx="5930900" cy="25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28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4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9pPr>
          </a:lstStyle>
          <a:p>
            <a:pPr algn="ctr" eaLnBrk="1" hangingPunct="1">
              <a:spcBef>
                <a:spcPct val="50000"/>
              </a:spcBef>
              <a:buFontTx/>
              <a:buNone/>
              <a:defRPr/>
            </a:pPr>
            <a:r>
              <a:rPr lang="zh-TW" altLang="en-US" sz="1083" smtClean="0">
                <a:solidFill>
                  <a:srgbClr val="606060"/>
                </a:solidFill>
                <a:latin typeface="微軟正黑體" panose="020B0604030504040204" pitchFamily="34" charset="-120"/>
              </a:rPr>
              <a:t>春積衛浴      </a:t>
            </a:r>
            <a:r>
              <a:rPr lang="en-US" altLang="zh-TW" sz="1083" smtClean="0">
                <a:solidFill>
                  <a:srgbClr val="606060"/>
                </a:solidFill>
                <a:latin typeface="微軟正黑體" panose="020B0604030504040204" pitchFamily="34" charset="-120"/>
              </a:rPr>
              <a:t>TWIGGY BATHROOM WORKS SINCE 1982          WWW.TWIGGY.COM.TW</a:t>
            </a:r>
          </a:p>
        </p:txBody>
      </p:sp>
      <p:grpSp>
        <p:nvGrpSpPr>
          <p:cNvPr id="22" name="群組 4"/>
          <p:cNvGrpSpPr>
            <a:grpSpLocks/>
          </p:cNvGrpSpPr>
          <p:nvPr/>
        </p:nvGrpSpPr>
        <p:grpSpPr bwMode="auto">
          <a:xfrm>
            <a:off x="0" y="115888"/>
            <a:ext cx="9906000" cy="779462"/>
            <a:chOff x="0" y="188640"/>
            <a:chExt cx="9144000" cy="720080"/>
          </a:xfrm>
          <a:solidFill>
            <a:schemeClr val="bg1">
              <a:lumMod val="85000"/>
            </a:schemeClr>
          </a:solidFill>
        </p:grpSpPr>
        <p:sp>
          <p:nvSpPr>
            <p:cNvPr id="23" name="矩形 22"/>
            <p:cNvSpPr/>
            <p:nvPr/>
          </p:nvSpPr>
          <p:spPr>
            <a:xfrm>
              <a:off x="0" y="188640"/>
              <a:ext cx="9144000" cy="7200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pic>
          <p:nvPicPr>
            <p:cNvPr id="24" name="圖片 37"/>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293094" y="314846"/>
              <a:ext cx="1686519" cy="52176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5" name="文字方塊 24"/>
            <p:cNvSpPr txBox="1"/>
            <p:nvPr/>
          </p:nvSpPr>
          <p:spPr>
            <a:xfrm>
              <a:off x="1987062" y="583144"/>
              <a:ext cx="1532792" cy="246382"/>
            </a:xfrm>
            <a:prstGeom prst="rect">
              <a:avLst/>
            </a:prstGeom>
            <a:grpFill/>
          </p:spPr>
          <p:txBody>
            <a:bodyPr>
              <a:spAutoFit/>
            </a:bodyPr>
            <a:lstStyle/>
            <a:p>
              <a:pPr>
                <a:defRPr/>
              </a:pPr>
              <a:r>
                <a:rPr lang="zh-TW" altLang="en-US" sz="1137" dirty="0">
                  <a:latin typeface="微軟正黑體" panose="020B0604030504040204" pitchFamily="34" charset="-120"/>
                  <a:ea typeface="微軟正黑體" panose="020B0604030504040204" pitchFamily="34" charset="-120"/>
                </a:rPr>
                <a:t>瑞士頂級精品陶瓷衛浴</a:t>
              </a:r>
            </a:p>
          </p:txBody>
        </p:sp>
      </p:grpSp>
      <p:sp>
        <p:nvSpPr>
          <p:cNvPr id="26" name="Text Box 27"/>
          <p:cNvSpPr txBox="1">
            <a:spLocks noChangeArrowheads="1"/>
          </p:cNvSpPr>
          <p:nvPr/>
        </p:nvSpPr>
        <p:spPr bwMode="auto">
          <a:xfrm>
            <a:off x="7839075" y="350838"/>
            <a:ext cx="1744663" cy="307975"/>
          </a:xfrm>
          <a:prstGeom prst="rect">
            <a:avLst/>
          </a:prstGeom>
          <a:solidFill>
            <a:schemeClr val="bg1">
              <a:lumMod val="65000"/>
            </a:schemeClr>
          </a:solidFill>
          <a:ln>
            <a:noFill/>
          </a:ln>
          <a:effec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r">
              <a:spcBef>
                <a:spcPct val="50000"/>
              </a:spcBef>
              <a:buFontTx/>
              <a:buNone/>
              <a:defRPr/>
            </a:pPr>
            <a:r>
              <a:rPr lang="en-US" altLang="zh-TW" sz="1400" dirty="0" smtClean="0">
                <a:solidFill>
                  <a:schemeClr val="bg1"/>
                </a:solidFill>
                <a:latin typeface="微軟正黑體" panose="020B0604030504040204" pitchFamily="34" charset="-120"/>
                <a:ea typeface="微軟正黑體" panose="020B0604030504040204" pitchFamily="34" charset="-120"/>
              </a:rPr>
              <a:t>LAUFEN</a:t>
            </a:r>
            <a:r>
              <a:rPr lang="zh-TW" altLang="en-US" sz="1400" dirty="0" smtClean="0">
                <a:solidFill>
                  <a:schemeClr val="bg1"/>
                </a:solidFill>
                <a:latin typeface="微軟正黑體" panose="020B0604030504040204" pitchFamily="34" charset="-120"/>
                <a:ea typeface="微軟正黑體" panose="020B0604030504040204" pitchFamily="34" charset="-120"/>
              </a:rPr>
              <a:t>的堅持</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4"/>
          <p:cNvSpPr txBox="1">
            <a:spLocks noChangeArrowheads="1"/>
          </p:cNvSpPr>
          <p:nvPr/>
        </p:nvSpPr>
        <p:spPr bwMode="auto">
          <a:xfrm>
            <a:off x="808038" y="2289175"/>
            <a:ext cx="5667375"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spcBef>
                <a:spcPct val="20000"/>
              </a:spcBef>
              <a:buChar char="•"/>
              <a:defRPr kumimoji="1" sz="34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30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6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9pPr>
          </a:lstStyle>
          <a:p>
            <a:pPr>
              <a:lnSpc>
                <a:spcPct val="200000"/>
              </a:lnSpc>
              <a:spcBef>
                <a:spcPct val="0"/>
              </a:spcBef>
            </a:pPr>
            <a:r>
              <a:rPr lang="zh-TW" altLang="en-US" sz="1200"/>
              <a:t>造型優美合乎人體工學設計。</a:t>
            </a:r>
            <a:endParaRPr lang="en-US" altLang="zh-TW" sz="1200"/>
          </a:p>
          <a:p>
            <a:pPr>
              <a:lnSpc>
                <a:spcPct val="200000"/>
              </a:lnSpc>
              <a:spcBef>
                <a:spcPct val="0"/>
              </a:spcBef>
            </a:pPr>
            <a:r>
              <a:rPr kumimoji="0" lang="zh-TW" altLang="en-US" sz="1200"/>
              <a:t>靜音音量只有</a:t>
            </a:r>
            <a:r>
              <a:rPr kumimoji="0" lang="en-US" altLang="zh-TW" sz="1200"/>
              <a:t>20-40</a:t>
            </a:r>
            <a:r>
              <a:rPr kumimoji="0" lang="zh-TW" altLang="en-US" sz="1200"/>
              <a:t>分貝。</a:t>
            </a:r>
            <a:endParaRPr kumimoji="0" lang="en-US" altLang="zh-TW" sz="1200"/>
          </a:p>
          <a:p>
            <a:pPr>
              <a:lnSpc>
                <a:spcPct val="200000"/>
              </a:lnSpc>
              <a:spcBef>
                <a:spcPct val="0"/>
              </a:spcBef>
            </a:pPr>
            <a:r>
              <a:rPr kumimoji="0" lang="zh-TW" altLang="en-US" sz="1200"/>
              <a:t>噴壓式沖水系統水流強勁。</a:t>
            </a:r>
            <a:endParaRPr kumimoji="0" lang="en-US" altLang="zh-TW" sz="1200"/>
          </a:p>
          <a:p>
            <a:pPr>
              <a:lnSpc>
                <a:spcPct val="200000"/>
              </a:lnSpc>
              <a:spcBef>
                <a:spcPct val="0"/>
              </a:spcBef>
            </a:pPr>
            <a:r>
              <a:rPr kumimoji="0" lang="zh-TW" altLang="en-US" sz="1200"/>
              <a:t>專利塑鋼水箱零件故障率低。</a:t>
            </a:r>
            <a:endParaRPr kumimoji="0" lang="en-US" altLang="zh-TW" sz="1200"/>
          </a:p>
          <a:p>
            <a:pPr>
              <a:lnSpc>
                <a:spcPct val="200000"/>
              </a:lnSpc>
              <a:spcBef>
                <a:spcPct val="0"/>
              </a:spcBef>
            </a:pPr>
            <a:r>
              <a:rPr lang="zh-TW" altLang="en-US" sz="1200">
                <a:latin typeface="微軟正黑體" panose="020B0604030504040204" pitchFamily="34" charset="-120"/>
              </a:rPr>
              <a:t>馬桶墊以防菌及防污材質處理，持久的防止細菌之傳播。</a:t>
            </a:r>
            <a:endParaRPr lang="en-US" altLang="zh-TW" sz="1200">
              <a:latin typeface="微軟正黑體" panose="020B0604030504040204" pitchFamily="34" charset="-120"/>
            </a:endParaRPr>
          </a:p>
          <a:p>
            <a:pPr>
              <a:lnSpc>
                <a:spcPct val="200000"/>
              </a:lnSpc>
              <a:spcBef>
                <a:spcPct val="0"/>
              </a:spcBef>
            </a:pPr>
            <a:r>
              <a:rPr lang="zh-TW" altLang="en-US" sz="1200"/>
              <a:t>沖洗式沖水範圍較廣，因而減少污物及臭味，馬桶內之水永遠乾淨。</a:t>
            </a:r>
            <a:endParaRPr lang="en-US" altLang="zh-TW" sz="1200"/>
          </a:p>
          <a:p>
            <a:pPr>
              <a:lnSpc>
                <a:spcPct val="200000"/>
              </a:lnSpc>
              <a:spcBef>
                <a:spcPct val="0"/>
              </a:spcBef>
            </a:pPr>
            <a:r>
              <a:rPr lang="zh-TW" altLang="en-US" sz="1200"/>
              <a:t>緩降馬桶蓋可輕緩的降在馬桶座上，且可藉由手腕輕打即可輕鬆拿出清洗。</a:t>
            </a:r>
          </a:p>
        </p:txBody>
      </p:sp>
      <p:pic>
        <p:nvPicPr>
          <p:cNvPr id="22531" name="Picture 10" descr="查看來源圖片"/>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6963" y="1951038"/>
            <a:ext cx="1538287"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文字方塊 1"/>
          <p:cNvSpPr txBox="1">
            <a:spLocks noChangeArrowheads="1"/>
          </p:cNvSpPr>
          <p:nvPr/>
        </p:nvSpPr>
        <p:spPr bwMode="auto">
          <a:xfrm>
            <a:off x="808038" y="1684338"/>
            <a:ext cx="2836862"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en-US" altLang="zh-TW" sz="1600" b="1">
                <a:latin typeface="微軟正黑體" panose="020B0604030504040204" pitchFamily="34" charset="-120"/>
                <a:ea typeface="微軟正黑體" panose="020B0604030504040204" pitchFamily="34" charset="-120"/>
              </a:rPr>
              <a:t>LAUFEN</a:t>
            </a:r>
            <a:r>
              <a:rPr lang="zh-TW" altLang="en-US" sz="1600" b="1">
                <a:latin typeface="微軟正黑體" panose="020B0604030504040204" pitchFamily="34" charset="-120"/>
                <a:ea typeface="微軟正黑體" panose="020B0604030504040204" pitchFamily="34" charset="-120"/>
              </a:rPr>
              <a:t>馬桶特點</a:t>
            </a:r>
            <a:endParaRPr lang="en-US" altLang="zh-TW" sz="1600" b="1">
              <a:latin typeface="微軟正黑體" panose="020B0604030504040204" pitchFamily="34" charset="-120"/>
              <a:ea typeface="微軟正黑體" panose="020B0604030504040204" pitchFamily="34" charset="-120"/>
            </a:endParaRPr>
          </a:p>
          <a:p>
            <a:r>
              <a:rPr lang="en-US" altLang="zh-TW" sz="1100">
                <a:latin typeface="微軟正黑體" panose="020B0604030504040204" pitchFamily="34" charset="-120"/>
                <a:ea typeface="微軟正黑體" panose="020B0604030504040204" pitchFamily="34" charset="-120"/>
              </a:rPr>
              <a:t>LAUFEN</a:t>
            </a:r>
            <a:r>
              <a:rPr lang="zh-TW" altLang="en-US" sz="1100">
                <a:latin typeface="微軟正黑體" panose="020B0604030504040204" pitchFamily="34" charset="-120"/>
                <a:ea typeface="微軟正黑體" panose="020B0604030504040204" pitchFamily="34" charset="-120"/>
              </a:rPr>
              <a:t>經由一系列之研發讓瓷器更衛生。</a:t>
            </a:r>
          </a:p>
        </p:txBody>
      </p:sp>
      <p:pic>
        <p:nvPicPr>
          <p:cNvPr id="22533" name="Picture 12" descr="查看來源圖片"/>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0038" y="1947863"/>
            <a:ext cx="1541462"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Line 14"/>
          <p:cNvSpPr>
            <a:spLocks noChangeShapeType="1"/>
          </p:cNvSpPr>
          <p:nvPr/>
        </p:nvSpPr>
        <p:spPr bwMode="auto">
          <a:xfrm>
            <a:off x="0" y="6597650"/>
            <a:ext cx="9906000" cy="0"/>
          </a:xfrm>
          <a:prstGeom prst="line">
            <a:avLst/>
          </a:prstGeom>
          <a:noFill/>
          <a:ln w="38100">
            <a:solidFill>
              <a:schemeClr val="bg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zh-TW" altLang="en-US">
              <a:solidFill>
                <a:srgbClr val="808080">
                  <a:lumMod val="75000"/>
                </a:srgbClr>
              </a:solidFill>
              <a:latin typeface="Arial" charset="0"/>
            </a:endParaRPr>
          </a:p>
        </p:txBody>
      </p:sp>
      <p:sp>
        <p:nvSpPr>
          <p:cNvPr id="16" name="Text Box 15"/>
          <p:cNvSpPr txBox="1">
            <a:spLocks noChangeArrowheads="1"/>
          </p:cNvSpPr>
          <p:nvPr/>
        </p:nvSpPr>
        <p:spPr bwMode="auto">
          <a:xfrm>
            <a:off x="2152650" y="6615113"/>
            <a:ext cx="5930900" cy="25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28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4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9pPr>
          </a:lstStyle>
          <a:p>
            <a:pPr algn="ctr" eaLnBrk="1" hangingPunct="1">
              <a:spcBef>
                <a:spcPct val="50000"/>
              </a:spcBef>
              <a:buFontTx/>
              <a:buNone/>
              <a:defRPr/>
            </a:pPr>
            <a:r>
              <a:rPr lang="zh-TW" altLang="en-US" sz="1083" smtClean="0">
                <a:solidFill>
                  <a:srgbClr val="606060"/>
                </a:solidFill>
                <a:latin typeface="微軟正黑體" panose="020B0604030504040204" pitchFamily="34" charset="-120"/>
              </a:rPr>
              <a:t>春積衛浴      </a:t>
            </a:r>
            <a:r>
              <a:rPr lang="en-US" altLang="zh-TW" sz="1083" smtClean="0">
                <a:solidFill>
                  <a:srgbClr val="606060"/>
                </a:solidFill>
                <a:latin typeface="微軟正黑體" panose="020B0604030504040204" pitchFamily="34" charset="-120"/>
              </a:rPr>
              <a:t>TWIGGY BATHROOM WORKS SINCE 1982          WWW.TWIGGY.COM.TW</a:t>
            </a:r>
          </a:p>
        </p:txBody>
      </p:sp>
      <p:grpSp>
        <p:nvGrpSpPr>
          <p:cNvPr id="28682" name="群組 4"/>
          <p:cNvGrpSpPr>
            <a:grpSpLocks/>
          </p:cNvGrpSpPr>
          <p:nvPr/>
        </p:nvGrpSpPr>
        <p:grpSpPr bwMode="auto">
          <a:xfrm>
            <a:off x="0" y="115888"/>
            <a:ext cx="9906000" cy="779462"/>
            <a:chOff x="0" y="188640"/>
            <a:chExt cx="9144000" cy="720080"/>
          </a:xfrm>
          <a:solidFill>
            <a:schemeClr val="bg1">
              <a:lumMod val="85000"/>
            </a:schemeClr>
          </a:solidFill>
        </p:grpSpPr>
        <p:sp>
          <p:nvSpPr>
            <p:cNvPr id="23" name="矩形 22"/>
            <p:cNvSpPr/>
            <p:nvPr/>
          </p:nvSpPr>
          <p:spPr>
            <a:xfrm>
              <a:off x="0" y="188640"/>
              <a:ext cx="9144000" cy="7200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pic>
          <p:nvPicPr>
            <p:cNvPr id="28685" name="圖片 3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3094" y="314846"/>
              <a:ext cx="1686519" cy="52176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25" name="文字方塊 24"/>
            <p:cNvSpPr txBox="1"/>
            <p:nvPr/>
          </p:nvSpPr>
          <p:spPr>
            <a:xfrm>
              <a:off x="1987062" y="583144"/>
              <a:ext cx="1532792" cy="246382"/>
            </a:xfrm>
            <a:prstGeom prst="rect">
              <a:avLst/>
            </a:prstGeom>
            <a:grpFill/>
          </p:spPr>
          <p:txBody>
            <a:bodyPr>
              <a:spAutoFit/>
            </a:bodyPr>
            <a:lstStyle/>
            <a:p>
              <a:pPr>
                <a:defRPr/>
              </a:pPr>
              <a:r>
                <a:rPr lang="zh-TW" altLang="en-US" sz="1137" dirty="0">
                  <a:latin typeface="微軟正黑體" panose="020B0604030504040204" pitchFamily="34" charset="-120"/>
                  <a:ea typeface="微軟正黑體" panose="020B0604030504040204" pitchFamily="34" charset="-120"/>
                </a:rPr>
                <a:t>瑞士頂級精品陶瓷衛浴</a:t>
              </a:r>
            </a:p>
          </p:txBody>
        </p:sp>
      </p:grpSp>
      <p:pic>
        <p:nvPicPr>
          <p:cNvPr id="22537" name="Picture 7" descr="File000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188" y="5162550"/>
            <a:ext cx="1287462"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8" name="Picture 8" descr="File000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74888" y="5162550"/>
            <a:ext cx="123190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9" name="Picture 9" descr="File000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30613" y="5162550"/>
            <a:ext cx="12319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0" name="Rectangle 14"/>
          <p:cNvSpPr>
            <a:spLocks noChangeArrowheads="1"/>
          </p:cNvSpPr>
          <p:nvPr/>
        </p:nvSpPr>
        <p:spPr bwMode="auto">
          <a:xfrm>
            <a:off x="5160963" y="5376863"/>
            <a:ext cx="4300537"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kumimoji="1" sz="34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30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6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1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100">
                <a:solidFill>
                  <a:schemeClr val="tx1"/>
                </a:solidFill>
                <a:latin typeface="Arial" panose="020B0604020202020204" pitchFamily="34" charset="0"/>
                <a:ea typeface="微軟正黑體" panose="020B0604030504040204" pitchFamily="34" charset="-120"/>
              </a:defRPr>
            </a:lvl9pPr>
          </a:lstStyle>
          <a:p>
            <a:pPr>
              <a:spcBef>
                <a:spcPct val="0"/>
              </a:spcBef>
              <a:buFontTx/>
              <a:buNone/>
            </a:pPr>
            <a:r>
              <a:rPr lang="en-US" altLang="zh-TW" sz="1100"/>
              <a:t>LAUFEN</a:t>
            </a:r>
            <a:r>
              <a:rPr lang="zh-TW" altLang="en-US" sz="1100"/>
              <a:t>發展出各種不同之外露式排污管可與所有排污裝置相連接，這使得房屋改裝翻修時簡單多了，排污管可橫或直接長，距牆７－３０公分均可，且可全部或局部圍住。</a:t>
            </a:r>
          </a:p>
        </p:txBody>
      </p:sp>
      <p:pic>
        <p:nvPicPr>
          <p:cNvPr id="22541" name="Picture 6" descr="File0002"/>
          <p:cNvPicPr>
            <a:picLocks noChangeAspect="1" noChangeArrowheads="1"/>
          </p:cNvPicPr>
          <p:nvPr/>
        </p:nvPicPr>
        <p:blipFill>
          <a:blip r:embed="rId8">
            <a:extLst>
              <a:ext uri="{28A0092B-C50C-407E-A947-70E740481C1C}">
                <a14:useLocalDpi xmlns:a14="http://schemas.microsoft.com/office/drawing/2010/main" val="0"/>
              </a:ext>
            </a:extLst>
          </a:blip>
          <a:srcRect t="10925"/>
          <a:stretch>
            <a:fillRect/>
          </a:stretch>
        </p:blipFill>
        <p:spPr bwMode="auto">
          <a:xfrm>
            <a:off x="7920038" y="3149600"/>
            <a:ext cx="1541462"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2" name="圖片 21"/>
          <p:cNvPicPr>
            <a:picLocks noChangeAspect="1"/>
          </p:cNvPicPr>
          <p:nvPr/>
        </p:nvPicPr>
        <p:blipFill>
          <a:blip r:embed="rId9">
            <a:extLst>
              <a:ext uri="{28A0092B-C50C-407E-A947-70E740481C1C}">
                <a14:useLocalDpi xmlns:a14="http://schemas.microsoft.com/office/drawing/2010/main" val="0"/>
              </a:ext>
            </a:extLst>
          </a:blip>
          <a:srcRect l="6569" t="60500" r="40193" b="3799"/>
          <a:stretch>
            <a:fillRect/>
          </a:stretch>
        </p:blipFill>
        <p:spPr bwMode="auto">
          <a:xfrm>
            <a:off x="4327525" y="1947863"/>
            <a:ext cx="1644650" cy="147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3" name="Picture 12" descr="File000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76963" y="3141663"/>
            <a:ext cx="153828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27"/>
          <p:cNvSpPr txBox="1">
            <a:spLocks noChangeArrowheads="1"/>
          </p:cNvSpPr>
          <p:nvPr/>
        </p:nvSpPr>
        <p:spPr bwMode="auto">
          <a:xfrm>
            <a:off x="7839075" y="350838"/>
            <a:ext cx="1744663" cy="307975"/>
          </a:xfrm>
          <a:prstGeom prst="rect">
            <a:avLst/>
          </a:prstGeom>
          <a:solidFill>
            <a:schemeClr val="bg1">
              <a:lumMod val="65000"/>
            </a:schemeClr>
          </a:solidFill>
          <a:ln>
            <a:noFill/>
          </a:ln>
          <a:effec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r">
              <a:spcBef>
                <a:spcPct val="50000"/>
              </a:spcBef>
              <a:buFontTx/>
              <a:buNone/>
              <a:defRPr/>
            </a:pPr>
            <a:r>
              <a:rPr lang="en-US" altLang="zh-TW" sz="1400" dirty="0" smtClean="0">
                <a:solidFill>
                  <a:schemeClr val="bg1"/>
                </a:solidFill>
                <a:latin typeface="微軟正黑體" panose="020B0604030504040204" pitchFamily="34" charset="-120"/>
                <a:ea typeface="微軟正黑體" panose="020B0604030504040204" pitchFamily="34" charset="-120"/>
              </a:rPr>
              <a:t>LAUFEN</a:t>
            </a:r>
            <a:r>
              <a:rPr lang="zh-TW" altLang="en-US" sz="1400" dirty="0" smtClean="0">
                <a:solidFill>
                  <a:schemeClr val="bg1"/>
                </a:solidFill>
                <a:latin typeface="微軟正黑體" panose="020B0604030504040204" pitchFamily="34" charset="-120"/>
                <a:ea typeface="微軟正黑體" panose="020B0604030504040204" pitchFamily="34" charset="-120"/>
              </a:rPr>
              <a:t>馬桶特點</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ine 14"/>
          <p:cNvSpPr>
            <a:spLocks noChangeShapeType="1"/>
          </p:cNvSpPr>
          <p:nvPr/>
        </p:nvSpPr>
        <p:spPr bwMode="auto">
          <a:xfrm>
            <a:off x="0" y="6597650"/>
            <a:ext cx="9906000" cy="0"/>
          </a:xfrm>
          <a:prstGeom prst="line">
            <a:avLst/>
          </a:prstGeom>
          <a:noFill/>
          <a:ln w="38100">
            <a:solidFill>
              <a:schemeClr val="bg2">
                <a:lumMod val="7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defRPr/>
            </a:pPr>
            <a:endParaRPr lang="zh-TW" altLang="en-US" sz="1200">
              <a:solidFill>
                <a:srgbClr val="808080">
                  <a:lumMod val="75000"/>
                </a:srgbClr>
              </a:solidFill>
              <a:latin typeface="Arial" charset="0"/>
            </a:endParaRPr>
          </a:p>
        </p:txBody>
      </p:sp>
      <p:sp>
        <p:nvSpPr>
          <p:cNvPr id="4" name="Text Box 15"/>
          <p:cNvSpPr txBox="1">
            <a:spLocks noChangeArrowheads="1"/>
          </p:cNvSpPr>
          <p:nvPr/>
        </p:nvSpPr>
        <p:spPr bwMode="auto">
          <a:xfrm>
            <a:off x="2152650" y="6615113"/>
            <a:ext cx="5930900" cy="25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Arial" panose="020B0604020202020204" pitchFamily="34" charset="0"/>
                <a:ea typeface="微軟正黑體" panose="020B0604030504040204" pitchFamily="34" charset="-120"/>
              </a:defRPr>
            </a:lvl1pPr>
            <a:lvl2pPr marL="742950" indent="-285750">
              <a:spcBef>
                <a:spcPct val="20000"/>
              </a:spcBef>
              <a:buChar char="–"/>
              <a:defRPr kumimoji="1" sz="2800">
                <a:solidFill>
                  <a:schemeClr val="tx1"/>
                </a:solidFill>
                <a:latin typeface="Arial" panose="020B0604020202020204" pitchFamily="34" charset="0"/>
                <a:ea typeface="微軟正黑體" panose="020B0604030504040204" pitchFamily="34" charset="-120"/>
              </a:defRPr>
            </a:lvl2pPr>
            <a:lvl3pPr marL="1143000" indent="-228600">
              <a:spcBef>
                <a:spcPct val="20000"/>
              </a:spcBef>
              <a:buChar char="•"/>
              <a:defRPr kumimoji="1" sz="2400">
                <a:solidFill>
                  <a:schemeClr val="tx1"/>
                </a:solidFill>
                <a:latin typeface="Arial" panose="020B0604020202020204" pitchFamily="34" charset="0"/>
                <a:ea typeface="微軟正黑體" panose="020B0604030504040204" pitchFamily="34" charset="-120"/>
              </a:defRPr>
            </a:lvl3pPr>
            <a:lvl4pPr marL="16002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4pPr>
            <a:lvl5pPr marL="2057400" indent="-228600">
              <a:spcBef>
                <a:spcPct val="20000"/>
              </a:spcBef>
              <a:buChar char="»"/>
              <a:defRPr kumimoji="1" sz="2000">
                <a:solidFill>
                  <a:schemeClr val="tx1"/>
                </a:solidFill>
                <a:latin typeface="Arial" panose="020B0604020202020204" pitchFamily="34" charset="0"/>
                <a:ea typeface="微軟正黑體" panose="020B0604030504040204" pitchFamily="34"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微軟正黑體" panose="020B0604030504040204" pitchFamily="34" charset="-120"/>
              </a:defRPr>
            </a:lvl9pPr>
          </a:lstStyle>
          <a:p>
            <a:pPr algn="ctr" eaLnBrk="1" hangingPunct="1">
              <a:spcBef>
                <a:spcPct val="50000"/>
              </a:spcBef>
              <a:buFontTx/>
              <a:buNone/>
              <a:defRPr/>
            </a:pPr>
            <a:r>
              <a:rPr lang="zh-TW" altLang="en-US" sz="1083" smtClean="0">
                <a:solidFill>
                  <a:srgbClr val="606060"/>
                </a:solidFill>
                <a:latin typeface="微軟正黑體" panose="020B0604030504040204" pitchFamily="34" charset="-120"/>
              </a:rPr>
              <a:t>春積衛浴      </a:t>
            </a:r>
            <a:r>
              <a:rPr lang="en-US" altLang="zh-TW" sz="1083" smtClean="0">
                <a:solidFill>
                  <a:srgbClr val="606060"/>
                </a:solidFill>
                <a:latin typeface="微軟正黑體" panose="020B0604030504040204" pitchFamily="34" charset="-120"/>
              </a:rPr>
              <a:t>TWIGGY BATHROOM WORKS SINCE 1982          WWW.TWIGGY.COM.TW</a:t>
            </a:r>
          </a:p>
        </p:txBody>
      </p:sp>
      <p:grpSp>
        <p:nvGrpSpPr>
          <p:cNvPr id="5" name="群組 4"/>
          <p:cNvGrpSpPr>
            <a:grpSpLocks/>
          </p:cNvGrpSpPr>
          <p:nvPr/>
        </p:nvGrpSpPr>
        <p:grpSpPr bwMode="auto">
          <a:xfrm>
            <a:off x="0" y="115888"/>
            <a:ext cx="9906000" cy="779462"/>
            <a:chOff x="0" y="188640"/>
            <a:chExt cx="9144000" cy="720080"/>
          </a:xfrm>
          <a:solidFill>
            <a:schemeClr val="bg1">
              <a:lumMod val="85000"/>
            </a:schemeClr>
          </a:solidFill>
        </p:grpSpPr>
        <p:sp>
          <p:nvSpPr>
            <p:cNvPr id="6" name="矩形 5"/>
            <p:cNvSpPr/>
            <p:nvPr/>
          </p:nvSpPr>
          <p:spPr>
            <a:xfrm>
              <a:off x="0" y="188640"/>
              <a:ext cx="9144000" cy="7200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a:p>
          </p:txBody>
        </p:sp>
        <p:pic>
          <p:nvPicPr>
            <p:cNvPr id="7" name="圖片 3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3094" y="314846"/>
              <a:ext cx="1686519" cy="52176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pic>
        <p:sp>
          <p:nvSpPr>
            <p:cNvPr id="8" name="文字方塊 7"/>
            <p:cNvSpPr txBox="1"/>
            <p:nvPr/>
          </p:nvSpPr>
          <p:spPr>
            <a:xfrm>
              <a:off x="1987062" y="583144"/>
              <a:ext cx="1532792" cy="246382"/>
            </a:xfrm>
            <a:prstGeom prst="rect">
              <a:avLst/>
            </a:prstGeom>
            <a:grpFill/>
          </p:spPr>
          <p:txBody>
            <a:bodyPr>
              <a:spAutoFit/>
            </a:bodyPr>
            <a:lstStyle/>
            <a:p>
              <a:pPr>
                <a:defRPr/>
              </a:pPr>
              <a:r>
                <a:rPr lang="zh-TW" altLang="en-US" sz="1137" dirty="0">
                  <a:latin typeface="微軟正黑體" panose="020B0604030504040204" pitchFamily="34" charset="-120"/>
                  <a:ea typeface="微軟正黑體" panose="020B0604030504040204" pitchFamily="34" charset="-120"/>
                </a:rPr>
                <a:t>瑞士頂級精品陶瓷衛浴</a:t>
              </a:r>
            </a:p>
          </p:txBody>
        </p:sp>
      </p:grpSp>
      <p:sp>
        <p:nvSpPr>
          <p:cNvPr id="9" name="Text Box 27"/>
          <p:cNvSpPr txBox="1">
            <a:spLocks noChangeArrowheads="1"/>
          </p:cNvSpPr>
          <p:nvPr/>
        </p:nvSpPr>
        <p:spPr bwMode="auto">
          <a:xfrm>
            <a:off x="7839075" y="350838"/>
            <a:ext cx="1744663" cy="307975"/>
          </a:xfrm>
          <a:prstGeom prst="rect">
            <a:avLst/>
          </a:prstGeom>
          <a:solidFill>
            <a:schemeClr val="bg1">
              <a:lumMod val="65000"/>
            </a:schemeClr>
          </a:solidFill>
          <a:ln>
            <a:noFill/>
          </a:ln>
          <a:effec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r">
              <a:spcBef>
                <a:spcPct val="50000"/>
              </a:spcBef>
              <a:buFontTx/>
              <a:buNone/>
              <a:defRPr/>
            </a:pPr>
            <a:r>
              <a:rPr lang="zh-TW" altLang="en-US" sz="1400" dirty="0" smtClean="0">
                <a:solidFill>
                  <a:schemeClr val="bg1"/>
                </a:solidFill>
                <a:latin typeface="微軟正黑體" panose="020B0604030504040204" pitchFamily="34" charset="-120"/>
                <a:ea typeface="微軟正黑體" panose="020B0604030504040204" pitchFamily="34" charset="-120"/>
              </a:rPr>
              <a:t>卓越設計</a:t>
            </a:r>
            <a:endParaRPr lang="zh-TW" altLang="en-US" sz="1400" dirty="0">
              <a:solidFill>
                <a:schemeClr val="bg1"/>
              </a:solidFill>
              <a:latin typeface="微軟正黑體" panose="020B0604030504040204" pitchFamily="34" charset="-120"/>
              <a:ea typeface="微軟正黑體" panose="020B0604030504040204" pitchFamily="34" charset="-120"/>
            </a:endParaRPr>
          </a:p>
        </p:txBody>
      </p:sp>
      <p:sp>
        <p:nvSpPr>
          <p:cNvPr id="23558" name="文字方塊 9"/>
          <p:cNvSpPr txBox="1">
            <a:spLocks noChangeArrowheads="1"/>
          </p:cNvSpPr>
          <p:nvPr/>
        </p:nvSpPr>
        <p:spPr bwMode="auto">
          <a:xfrm>
            <a:off x="812800" y="1562100"/>
            <a:ext cx="4716463"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r>
              <a:rPr lang="zh-TW" altLang="en-US" sz="1600" b="1">
                <a:latin typeface="微軟正黑體" panose="020B0604030504040204" pitchFamily="34" charset="-120"/>
                <a:ea typeface="微軟正黑體" panose="020B0604030504040204" pitchFamily="34" charset="-120"/>
              </a:rPr>
              <a:t>卓越設計</a:t>
            </a:r>
            <a:endParaRPr lang="en-US" altLang="zh-TW" sz="1600" b="1">
              <a:latin typeface="微軟正黑體" panose="020B0604030504040204" pitchFamily="34" charset="-120"/>
              <a:ea typeface="微軟正黑體" panose="020B0604030504040204" pitchFamily="34" charset="-120"/>
            </a:endParaRPr>
          </a:p>
          <a:p>
            <a:endParaRPr lang="en-US" altLang="zh-TW" sz="1600" b="1">
              <a:latin typeface="微軟正黑體" panose="020B0604030504040204" pitchFamily="34" charset="-120"/>
              <a:ea typeface="微軟正黑體" panose="020B0604030504040204" pitchFamily="34" charset="-120"/>
            </a:endParaRPr>
          </a:p>
          <a:p>
            <a:pPr>
              <a:lnSpc>
                <a:spcPct val="150000"/>
              </a:lnSpc>
            </a:pPr>
            <a:r>
              <a:rPr lang="en-US" altLang="zh-TW" sz="1200">
                <a:latin typeface="微軟正黑體" panose="020B0604030504040204" pitchFamily="34" charset="-120"/>
                <a:ea typeface="微軟正黑體" panose="020B0604030504040204" pitchFamily="34" charset="-120"/>
              </a:rPr>
              <a:t>LAUFEN</a:t>
            </a:r>
            <a:r>
              <a:rPr lang="zh-TW" altLang="en-US" sz="1200">
                <a:latin typeface="微軟正黑體" panose="020B0604030504040204" pitchFamily="34" charset="-120"/>
                <a:ea typeface="微軟正黑體" panose="020B0604030504040204" pitchFamily="34" charset="-120"/>
              </a:rPr>
              <a:t>不僅僅擁有精湛的工藝，同時也重視設計的質量。幾十年來，</a:t>
            </a:r>
            <a:r>
              <a:rPr lang="en-US" altLang="zh-TW" sz="1200">
                <a:latin typeface="微軟正黑體" panose="020B0604030504040204" pitchFamily="34" charset="-120"/>
                <a:ea typeface="微軟正黑體" panose="020B0604030504040204" pitchFamily="34" charset="-120"/>
              </a:rPr>
              <a:t>LAUFEN</a:t>
            </a:r>
            <a:r>
              <a:rPr lang="zh-TW" altLang="en-US" sz="1200">
                <a:latin typeface="微軟正黑體" panose="020B0604030504040204" pitchFamily="34" charset="-120"/>
                <a:ea typeface="微軟正黑體" panose="020B0604030504040204" pitchFamily="34" charset="-120"/>
              </a:rPr>
              <a:t>已與知名建築師與設計師展開了多次合作。</a:t>
            </a:r>
            <a:endParaRPr lang="en-US" altLang="zh-TW" sz="1200">
              <a:latin typeface="微軟正黑體" panose="020B0604030504040204" pitchFamily="34" charset="-120"/>
              <a:ea typeface="微軟正黑體" panose="020B0604030504040204" pitchFamily="34" charset="-120"/>
            </a:endParaRPr>
          </a:p>
          <a:p>
            <a:pPr>
              <a:lnSpc>
                <a:spcPct val="150000"/>
              </a:lnSpc>
            </a:pPr>
            <a:endParaRPr lang="en-US" altLang="zh-TW" sz="1200">
              <a:latin typeface="微軟正黑體" panose="020B0604030504040204" pitchFamily="34" charset="-120"/>
              <a:ea typeface="微軟正黑體" panose="020B0604030504040204" pitchFamily="34" charset="-120"/>
            </a:endParaRPr>
          </a:p>
          <a:p>
            <a:pPr>
              <a:lnSpc>
                <a:spcPct val="150000"/>
              </a:lnSpc>
            </a:pPr>
            <a:r>
              <a:rPr lang="zh-TW" altLang="en-US" sz="1200">
                <a:latin typeface="微軟正黑體" panose="020B0604030504040204" pitchFamily="34" charset="-120"/>
                <a:ea typeface="微軟正黑體" panose="020B0604030504040204" pitchFamily="34" charset="-120"/>
              </a:rPr>
              <a:t>設計理念：將優質材料打造成實用性高的產品，注入美感元素，降低對環境的影響，同時盡可能減少水的消耗。並且將創新的設計理念與現今技術的精密製造工業相互結合。</a:t>
            </a:r>
            <a:endParaRPr lang="en-US" altLang="zh-TW" sz="1200">
              <a:latin typeface="微軟正黑體" panose="020B0604030504040204" pitchFamily="34" charset="-120"/>
              <a:ea typeface="微軟正黑體" panose="020B0604030504040204" pitchFamily="34" charset="-120"/>
            </a:endParaRPr>
          </a:p>
          <a:p>
            <a:pPr>
              <a:lnSpc>
                <a:spcPct val="150000"/>
              </a:lnSpc>
            </a:pPr>
            <a:endParaRPr lang="en-US" altLang="zh-TW" sz="1200">
              <a:latin typeface="微軟正黑體" panose="020B0604030504040204" pitchFamily="34" charset="-120"/>
              <a:ea typeface="微軟正黑體" panose="020B0604030504040204" pitchFamily="34" charset="-120"/>
            </a:endParaRPr>
          </a:p>
          <a:p>
            <a:pPr>
              <a:lnSpc>
                <a:spcPct val="150000"/>
              </a:lnSpc>
            </a:pPr>
            <a:r>
              <a:rPr lang="zh-TW" altLang="en-US" sz="1200">
                <a:latin typeface="微軟正黑體" panose="020B0604030504040204" pitchFamily="34" charset="-120"/>
                <a:ea typeface="微軟正黑體" panose="020B0604030504040204" pitchFamily="34" charset="-120"/>
              </a:rPr>
              <a:t>如此一來，構成了一個具有高度功能性與美學享受的產品系列，各種品項應有盡有。同時，</a:t>
            </a:r>
            <a:r>
              <a:rPr lang="en-US" altLang="zh-TW" sz="1200">
                <a:latin typeface="微軟正黑體" panose="020B0604030504040204" pitchFamily="34" charset="-120"/>
                <a:ea typeface="微軟正黑體" panose="020B0604030504040204" pitchFamily="34" charset="-120"/>
              </a:rPr>
              <a:t>LAUFEN</a:t>
            </a:r>
            <a:r>
              <a:rPr lang="zh-TW" altLang="en-US" sz="1200">
                <a:latin typeface="微軟正黑體" panose="020B0604030504040204" pitchFamily="34" charset="-120"/>
                <a:ea typeface="微軟正黑體" panose="020B0604030504040204" pitchFamily="34" charset="-120"/>
              </a:rPr>
              <a:t>也巧妙地運用知識與經驗，根據顧客意願實現高度的客製化。除了色彩的選擇</a:t>
            </a:r>
            <a:r>
              <a:rPr lang="en-US" altLang="zh-TW" sz="1200">
                <a:latin typeface="微軟正黑體" panose="020B0604030504040204" pitchFamily="34" charset="-120"/>
                <a:ea typeface="微軟正黑體" panose="020B0604030504040204" pitchFamily="34" charset="-120"/>
              </a:rPr>
              <a:t>﹑</a:t>
            </a:r>
            <a:r>
              <a:rPr lang="zh-TW" altLang="en-US" sz="1200">
                <a:latin typeface="微軟正黑體" panose="020B0604030504040204" pitchFamily="34" charset="-120"/>
                <a:ea typeface="微軟正黑體" panose="020B0604030504040204" pitchFamily="34" charset="-120"/>
              </a:rPr>
              <a:t>表面效果與圖案，</a:t>
            </a:r>
            <a:r>
              <a:rPr lang="en-US" altLang="zh-TW" sz="1200">
                <a:latin typeface="微軟正黑體" panose="020B0604030504040204" pitchFamily="34" charset="-120"/>
                <a:ea typeface="微軟正黑體" panose="020B0604030504040204" pitchFamily="34" charset="-120"/>
              </a:rPr>
              <a:t>LAUFEN</a:t>
            </a:r>
            <a:r>
              <a:rPr lang="zh-TW" altLang="en-US" sz="1200">
                <a:latin typeface="微軟正黑體" panose="020B0604030504040204" pitchFamily="34" charset="-120"/>
                <a:ea typeface="微軟正黑體" panose="020B0604030504040204" pitchFamily="34" charset="-120"/>
              </a:rPr>
              <a:t>還提供根據所需尺寸訂製的面盆。</a:t>
            </a:r>
            <a:endParaRPr lang="en-US" altLang="zh-TW" sz="1200">
              <a:latin typeface="微軟正黑體" panose="020B0604030504040204" pitchFamily="34" charset="-120"/>
              <a:ea typeface="微軟正黑體" panose="020B0604030504040204" pitchFamily="34" charset="-120"/>
            </a:endParaRPr>
          </a:p>
          <a:p>
            <a:pPr>
              <a:lnSpc>
                <a:spcPct val="150000"/>
              </a:lnSpc>
            </a:pPr>
            <a:endParaRPr lang="en-US" altLang="zh-TW" sz="1200">
              <a:latin typeface="微軟正黑體" panose="020B0604030504040204" pitchFamily="34" charset="-120"/>
              <a:ea typeface="微軟正黑體" panose="020B0604030504040204" pitchFamily="34" charset="-120"/>
            </a:endParaRPr>
          </a:p>
          <a:p>
            <a:pPr>
              <a:lnSpc>
                <a:spcPct val="150000"/>
              </a:lnSpc>
            </a:pPr>
            <a:r>
              <a:rPr lang="en-US" altLang="zh-TW" sz="1200">
                <a:latin typeface="微軟正黑體" panose="020B0604030504040204" pitchFamily="34" charset="-120"/>
                <a:ea typeface="微軟正黑體" panose="020B0604030504040204" pitchFamily="34" charset="-120"/>
              </a:rPr>
              <a:t>LAUFEN</a:t>
            </a:r>
            <a:r>
              <a:rPr lang="zh-TW" altLang="en-US" sz="1200">
                <a:latin typeface="微軟正黑體" panose="020B0604030504040204" pitchFamily="34" charset="-120"/>
                <a:ea typeface="微軟正黑體" panose="020B0604030504040204" pitchFamily="34" charset="-120"/>
              </a:rPr>
              <a:t>產品擁有絕美的設計與多樣性，同時不忘兼顧品質，因此贏得了眾多國際評委與獨立組織的青睞，榮獲數十項項設計大獎。</a:t>
            </a:r>
          </a:p>
        </p:txBody>
      </p:sp>
      <p:pic>
        <p:nvPicPr>
          <p:cNvPr id="23559" name="圖片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73725" y="2133600"/>
            <a:ext cx="735013" cy="356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0" name="圖片 13"/>
          <p:cNvPicPr>
            <a:picLocks noChangeAspect="1"/>
          </p:cNvPicPr>
          <p:nvPr/>
        </p:nvPicPr>
        <p:blipFill>
          <a:blip r:embed="rId4">
            <a:extLst>
              <a:ext uri="{28A0092B-C50C-407E-A947-70E740481C1C}">
                <a14:useLocalDpi xmlns:a14="http://schemas.microsoft.com/office/drawing/2010/main" val="0"/>
              </a:ext>
            </a:extLst>
          </a:blip>
          <a:srcRect l="8755"/>
          <a:stretch>
            <a:fillRect/>
          </a:stretch>
        </p:blipFill>
        <p:spPr bwMode="auto">
          <a:xfrm>
            <a:off x="6753225" y="2230438"/>
            <a:ext cx="1276350" cy="337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1" name="圖片 1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083550" y="2133600"/>
            <a:ext cx="1270000"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1946</TotalTime>
  <Words>1303</Words>
  <Application>Microsoft Office PowerPoint</Application>
  <PresentationFormat>A4 紙張 (210x297 公釐)</PresentationFormat>
  <Paragraphs>90</Paragraphs>
  <Slides>8</Slides>
  <Notes>0</Notes>
  <HiddenSlides>0</HiddenSlides>
  <MMClips>0</MMClips>
  <ScaleCrop>false</ScaleCrop>
  <HeadingPairs>
    <vt:vector size="8" baseType="variant">
      <vt:variant>
        <vt:lpstr>使用字型</vt:lpstr>
      </vt:variant>
      <vt:variant>
        <vt:i4>6</vt:i4>
      </vt:variant>
      <vt:variant>
        <vt:lpstr>佈景主題</vt:lpstr>
      </vt:variant>
      <vt:variant>
        <vt:i4>1</vt:i4>
      </vt:variant>
      <vt:variant>
        <vt:lpstr>內嵌 OLE 伺服程式</vt:lpstr>
      </vt:variant>
      <vt:variant>
        <vt:i4>1</vt:i4>
      </vt:variant>
      <vt:variant>
        <vt:lpstr>投影片標題</vt:lpstr>
      </vt:variant>
      <vt:variant>
        <vt:i4>8</vt:i4>
      </vt:variant>
    </vt:vector>
  </HeadingPairs>
  <TitlesOfParts>
    <vt:vector size="16" baseType="lpstr">
      <vt:lpstr>Arial</vt:lpstr>
      <vt:lpstr>新細明體</vt:lpstr>
      <vt:lpstr>微軟正黑體</vt:lpstr>
      <vt:lpstr>Calibri</vt:lpstr>
      <vt:lpstr>標楷體</vt:lpstr>
      <vt:lpstr>Verdana</vt:lpstr>
      <vt:lpstr>預設簡報設計</vt:lpstr>
      <vt:lpstr>Microsoft Excel 圖表</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CMT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Felix</dc:creator>
  <cp:lastModifiedBy>衛浴 春積</cp:lastModifiedBy>
  <cp:revision>200</cp:revision>
  <dcterms:created xsi:type="dcterms:W3CDTF">2010-09-28T02:09:03Z</dcterms:created>
  <dcterms:modified xsi:type="dcterms:W3CDTF">2021-09-15T03:33:08Z</dcterms:modified>
</cp:coreProperties>
</file>